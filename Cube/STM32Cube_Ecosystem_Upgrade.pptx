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2" r:id="rId2"/>
    <p:sldId id="271" r:id="rId3"/>
    <p:sldId id="2147376783" r:id="rId4"/>
    <p:sldId id="2147376782" r:id="rId5"/>
    <p:sldId id="2147376785" r:id="rId6"/>
    <p:sldId id="2147469045" r:id="rId7"/>
    <p:sldId id="2147376786" r:id="rId8"/>
    <p:sldId id="2147376789" r:id="rId9"/>
    <p:sldId id="2147376790" r:id="rId10"/>
    <p:sldId id="2147376791" r:id="rId11"/>
    <p:sldId id="2147376792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47C4C-7988-5943-F11C-21F5E8154794}" name="Laurent CONSEIL" initials="LC" userId="S::laurent.conseil@st.com::e1015490-9e35-4b47-a3e8-508880d4a8ef" providerId="AD"/>
  <p188:author id="{EEFEC08A-6C92-CAB8-E584-8037D4E04B9C}" name="Raouf HOSNI" initials="RH" userId="S::raouf.hosni@st.com::45891f24-d5f8-4626-b1aa-b56e8a647458" providerId="AD"/>
  <p188:author id="{49113DEE-4DBA-35D8-1D0B-87DEBCD4F4D1}" name="Sami GUIZANI" initials="" userId="S::sami.guizani@st.com::b5347d1e-1d9d-4cc7-ad81-da154d4283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C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81" autoAdjust="0"/>
  </p:normalViewPr>
  <p:slideViewPr>
    <p:cSldViewPr snapToGrid="0">
      <p:cViewPr varScale="1">
        <p:scale>
          <a:sx n="80" d="100"/>
          <a:sy n="80" d="100"/>
        </p:scale>
        <p:origin x="111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GUIZANI" userId="b5347d1e-1d9d-4cc7-ad81-da154d4283ef" providerId="ADAL" clId="{D7B445E4-6CD0-49B7-8CF5-859DE4EA3755}"/>
    <pc:docChg chg="custSel addSld delSld modSld">
      <pc:chgData name="Sami GUIZANI" userId="b5347d1e-1d9d-4cc7-ad81-da154d4283ef" providerId="ADAL" clId="{D7B445E4-6CD0-49B7-8CF5-859DE4EA3755}" dt="2025-07-11T15:34:34.183" v="90" actId="20577"/>
      <pc:docMkLst>
        <pc:docMk/>
      </pc:docMkLst>
      <pc:sldChg chg="delSp modSp mod">
        <pc:chgData name="Sami GUIZANI" userId="b5347d1e-1d9d-4cc7-ad81-da154d4283ef" providerId="ADAL" clId="{D7B445E4-6CD0-49B7-8CF5-859DE4EA3755}" dt="2025-07-09T14:50:56.069" v="88" actId="1076"/>
        <pc:sldMkLst>
          <pc:docMk/>
          <pc:sldMk cId="193982230" sldId="262"/>
        </pc:sldMkLst>
        <pc:spChg chg="mod">
          <ac:chgData name="Sami GUIZANI" userId="b5347d1e-1d9d-4cc7-ad81-da154d4283ef" providerId="ADAL" clId="{D7B445E4-6CD0-49B7-8CF5-859DE4EA3755}" dt="2025-07-09T14:50:50.398" v="87" actId="114"/>
          <ac:spMkLst>
            <pc:docMk/>
            <pc:sldMk cId="193982230" sldId="262"/>
            <ac:spMk id="15" creationId="{FB49D3ED-12A5-44AC-B654-9458A5FBEC88}"/>
          </ac:spMkLst>
        </pc:spChg>
        <pc:picChg chg="mod topLvl">
          <ac:chgData name="Sami GUIZANI" userId="b5347d1e-1d9d-4cc7-ad81-da154d4283ef" providerId="ADAL" clId="{D7B445E4-6CD0-49B7-8CF5-859DE4EA3755}" dt="2025-07-09T14:50:56.069" v="88" actId="1076"/>
          <ac:picMkLst>
            <pc:docMk/>
            <pc:sldMk cId="193982230" sldId="262"/>
            <ac:picMk id="8" creationId="{4153B43C-0CFD-A1BC-39AA-903DA6F84ABE}"/>
          </ac:picMkLst>
        </pc:picChg>
      </pc:sldChg>
      <pc:sldChg chg="del">
        <pc:chgData name="Sami GUIZANI" userId="b5347d1e-1d9d-4cc7-ad81-da154d4283ef" providerId="ADAL" clId="{D7B445E4-6CD0-49B7-8CF5-859DE4EA3755}" dt="2025-04-15T16:12:57.729" v="35" actId="2696"/>
        <pc:sldMkLst>
          <pc:docMk/>
          <pc:sldMk cId="3286829855" sldId="269"/>
        </pc:sldMkLst>
      </pc:sldChg>
      <pc:sldChg chg="add mod modShow">
        <pc:chgData name="Sami GUIZANI" userId="b5347d1e-1d9d-4cc7-ad81-da154d4283ef" providerId="ADAL" clId="{D7B445E4-6CD0-49B7-8CF5-859DE4EA3755}" dt="2025-07-09T14:47:38.334" v="37" actId="729"/>
        <pc:sldMkLst>
          <pc:docMk/>
          <pc:sldMk cId="1330070547" sldId="271"/>
        </pc:sldMkLst>
      </pc:sldChg>
      <pc:sldChg chg="modSp mod">
        <pc:chgData name="Sami GUIZANI" userId="b5347d1e-1d9d-4cc7-ad81-da154d4283ef" providerId="ADAL" clId="{D7B445E4-6CD0-49B7-8CF5-859DE4EA3755}" dt="2025-07-11T15:34:34.183" v="90" actId="20577"/>
        <pc:sldMkLst>
          <pc:docMk/>
          <pc:sldMk cId="2669322184" sldId="2147376783"/>
        </pc:sldMkLst>
        <pc:spChg chg="mod">
          <ac:chgData name="Sami GUIZANI" userId="b5347d1e-1d9d-4cc7-ad81-da154d4283ef" providerId="ADAL" clId="{D7B445E4-6CD0-49B7-8CF5-859DE4EA3755}" dt="2025-07-11T15:34:34.183" v="90" actId="20577"/>
          <ac:spMkLst>
            <pc:docMk/>
            <pc:sldMk cId="2669322184" sldId="2147376783"/>
            <ac:spMk id="29" creationId="{FB0ED107-93D2-1AD7-7631-FD6198A6724C}"/>
          </ac:spMkLst>
        </pc:spChg>
      </pc:sldChg>
      <pc:sldChg chg="modSp mod">
        <pc:chgData name="Sami GUIZANI" userId="b5347d1e-1d9d-4cc7-ad81-da154d4283ef" providerId="ADAL" clId="{D7B445E4-6CD0-49B7-8CF5-859DE4EA3755}" dt="2024-12-02T15:56:44.046" v="30" actId="20577"/>
        <pc:sldMkLst>
          <pc:docMk/>
          <pc:sldMk cId="4082648342" sldId="2147376785"/>
        </pc:sldMkLst>
      </pc:sldChg>
      <pc:sldChg chg="modSp mod">
        <pc:chgData name="Sami GUIZANI" userId="b5347d1e-1d9d-4cc7-ad81-da154d4283ef" providerId="ADAL" clId="{D7B445E4-6CD0-49B7-8CF5-859DE4EA3755}" dt="2024-12-02T15:51:44.420" v="17" actId="14100"/>
        <pc:sldMkLst>
          <pc:docMk/>
          <pc:sldMk cId="2676351780" sldId="2147376786"/>
        </pc:sldMkLst>
      </pc:sldChg>
      <pc:sldChg chg="modSp del mod">
        <pc:chgData name="Sami GUIZANI" userId="b5347d1e-1d9d-4cc7-ad81-da154d4283ef" providerId="ADAL" clId="{D7B445E4-6CD0-49B7-8CF5-859DE4EA3755}" dt="2024-12-02T15:52:01.673" v="21" actId="47"/>
        <pc:sldMkLst>
          <pc:docMk/>
          <pc:sldMk cId="592334249" sldId="2147376787"/>
        </pc:sldMkLst>
      </pc:sldChg>
      <pc:sldChg chg="delSp modSp mod">
        <pc:chgData name="Sami GUIZANI" userId="b5347d1e-1d9d-4cc7-ad81-da154d4283ef" providerId="ADAL" clId="{D7B445E4-6CD0-49B7-8CF5-859DE4EA3755}" dt="2024-12-02T15:58:52.725" v="34" actId="20577"/>
        <pc:sldMkLst>
          <pc:docMk/>
          <pc:sldMk cId="2850086922" sldId="2147376792"/>
        </pc:sldMkLst>
      </pc:sldChg>
      <pc:sldChg chg="del">
        <pc:chgData name="Sami GUIZANI" userId="b5347d1e-1d9d-4cc7-ad81-da154d4283ef" providerId="ADAL" clId="{D7B445E4-6CD0-49B7-8CF5-859DE4EA3755}" dt="2024-12-02T15:52:15.168" v="22" actId="47"/>
        <pc:sldMkLst>
          <pc:docMk/>
          <pc:sldMk cId="43685574" sldId="2147376793"/>
        </pc:sldMkLst>
      </pc:sldChg>
      <pc:sldChg chg="del">
        <pc:chgData name="Sami GUIZANI" userId="b5347d1e-1d9d-4cc7-ad81-da154d4283ef" providerId="ADAL" clId="{D7B445E4-6CD0-49B7-8CF5-859DE4EA3755}" dt="2024-12-02T15:52:24.531" v="25" actId="47"/>
        <pc:sldMkLst>
          <pc:docMk/>
          <pc:sldMk cId="3134904167" sldId="2147376794"/>
        </pc:sldMkLst>
      </pc:sldChg>
      <pc:sldChg chg="modSp mod">
        <pc:chgData name="Sami GUIZANI" userId="b5347d1e-1d9d-4cc7-ad81-da154d4283ef" providerId="ADAL" clId="{D7B445E4-6CD0-49B7-8CF5-859DE4EA3755}" dt="2024-12-02T15:57:43.505" v="32" actId="20577"/>
        <pc:sldMkLst>
          <pc:docMk/>
          <pc:sldMk cId="1889186028" sldId="21474690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Establishing and maintaining leadership require continuous investment in attracting and delighting embedded software developers 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  </a:t>
            </a:r>
            <a:endParaRPr lang="en-US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 Our STM32Cube is a</a:t>
            </a:r>
            <a:r>
              <a:rPr lang="en-US" b="1" dirty="0">
                <a:latin typeface="Arial"/>
                <a:cs typeface="Arial"/>
              </a:rPr>
              <a:t> comprehensive developer Framework</a:t>
            </a:r>
            <a:r>
              <a:rPr lang="en-US" dirty="0">
                <a:latin typeface="Arial"/>
                <a:cs typeface="Arial"/>
              </a:rPr>
              <a:t> providing necessary bricks to</a:t>
            </a:r>
            <a:r>
              <a:rPr lang="en-US" b="1" dirty="0">
                <a:latin typeface="Arial"/>
                <a:cs typeface="Arial"/>
              </a:rPr>
              <a:t> ease and accelerate embedded designs</a:t>
            </a:r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    </a:t>
            </a:r>
            <a:endParaRPr lang="en-US" dirty="0"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STM32Cube combines: </a:t>
            </a:r>
          </a:p>
          <a:p>
            <a:pPr lvl="2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HW development kits</a:t>
            </a:r>
            <a:r>
              <a:rPr lang="en-US" dirty="0">
                <a:latin typeface="Arial"/>
                <a:cs typeface="Arial"/>
              </a:rPr>
              <a:t> offering prototyping references design boards </a:t>
            </a:r>
            <a:endParaRPr lang="en-US" dirty="0">
              <a:cs typeface="Arial" panose="020B0604020202020204" pitchFamily="34" charset="0"/>
            </a:endParaRPr>
          </a:p>
          <a:p>
            <a:pPr lvl="2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Embedded SW Development Kit</a:t>
            </a:r>
            <a:r>
              <a:rPr lang="en-US" dirty="0">
                <a:latin typeface="Arial"/>
                <a:cs typeface="Arial"/>
              </a:rPr>
              <a:t> offering optimized drivers, middleware and implementation examples </a:t>
            </a:r>
          </a:p>
          <a:p>
            <a:pPr lvl="2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Development tools</a:t>
            </a:r>
            <a:r>
              <a:rPr lang="en-US" dirty="0">
                <a:latin typeface="Arial"/>
                <a:cs typeface="Arial"/>
              </a:rPr>
              <a:t> simplifying MCU configuration, applications development and monitoring. </a:t>
            </a:r>
            <a:endParaRPr lang="en-US" dirty="0">
              <a:cs typeface="Arial" panose="020B0604020202020204" pitchFamily="34" charset="0"/>
            </a:endParaRPr>
          </a:p>
          <a:p>
            <a:pPr lvl="2" indent="-1714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Extensive offer of </a:t>
            </a:r>
            <a:r>
              <a:rPr lang="en-US" b="1" dirty="0">
                <a:latin typeface="Arial"/>
                <a:cs typeface="Arial"/>
              </a:rPr>
              <a:t>development resources</a:t>
            </a:r>
            <a:r>
              <a:rPr lang="en-US" dirty="0">
                <a:latin typeface="Arial"/>
                <a:cs typeface="Arial"/>
              </a:rPr>
              <a:t> including technical documentations, application notes and education materials.  </a:t>
            </a:r>
          </a:p>
          <a:p>
            <a:pPr marL="742950" lvl="2" indent="0">
              <a:buFont typeface="Arial" panose="020B0604020202020204" pitchFamily="34" charset="0"/>
              <a:buNone/>
            </a:pPr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     </a:t>
            </a:r>
          </a:p>
          <a:p>
            <a:pPr marL="171450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150+ STM32Cube expansions from ST and partners</a:t>
            </a:r>
            <a:r>
              <a:rPr lang="en-US" dirty="0">
                <a:latin typeface="Arial"/>
                <a:cs typeface="Arial"/>
              </a:rPr>
              <a:t> enlarge the framework offer and include:   </a:t>
            </a:r>
          </a:p>
          <a:p>
            <a:pPr lvl="1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STM32Cube Extensions</a:t>
            </a:r>
            <a:r>
              <a:rPr lang="en-US" dirty="0">
                <a:latin typeface="Arial"/>
                <a:cs typeface="Arial"/>
              </a:rPr>
              <a:t> focusing on specific functions such as AI, Motor Control, or Cloud connectivity </a:t>
            </a:r>
          </a:p>
          <a:p>
            <a:pPr lvl="1" indent="-1714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Function packs</a:t>
            </a:r>
            <a:r>
              <a:rPr lang="en-US" dirty="0">
                <a:latin typeface="Arial"/>
                <a:cs typeface="Arial"/>
              </a:rPr>
              <a:t> with application-level implementation references such as Face recognition or MEMS sensing</a:t>
            </a:r>
          </a:p>
          <a:p>
            <a:pPr lvl="1" indent="-171450">
              <a:buFont typeface="Arial"/>
              <a:buChar char="•"/>
            </a:pPr>
            <a:endParaRPr lang="en-US" dirty="0"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The framework is </a:t>
            </a:r>
            <a:r>
              <a:rPr lang="en-US" b="1" dirty="0">
                <a:latin typeface="Arial"/>
                <a:cs typeface="Arial"/>
              </a:rPr>
              <a:t>consistent across the STM32 portfolio</a:t>
            </a:r>
            <a:r>
              <a:rPr lang="en-US" dirty="0">
                <a:latin typeface="Arial"/>
                <a:cs typeface="Arial"/>
              </a:rPr>
              <a:t> and leverages ST </a:t>
            </a:r>
            <a:r>
              <a:rPr lang="en-US" b="1" dirty="0">
                <a:latin typeface="Arial"/>
                <a:cs typeface="Arial"/>
              </a:rPr>
              <a:t>worldwide support channels and communities</a:t>
            </a:r>
            <a:r>
              <a:rPr lang="en-US" dirty="0">
                <a:latin typeface="Arial"/>
                <a:cs typeface="Arial"/>
              </a:rPr>
              <a:t>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15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57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51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29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10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4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4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Drag and drop </a:t>
            </a:r>
            <a:br>
              <a:rPr lang="en-US"/>
            </a:br>
            <a:r>
              <a:rPr lang="en-US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04272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 userDrawn="1"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 userDrawn="1"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 userDrawn="1"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 userDrawn="1"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 userDrawn="1"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 userDrawn="1"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 userDrawn="1"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 userDrawn="1"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 userDrawn="1"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 userDrawn="1"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 userDrawn="1"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 userDrawn="1"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 userDrawn="1"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 userDrawn="1"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 userDrawn="1"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 userDrawn="1"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 userDrawn="1"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 userDrawn="1"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 userDrawn="1"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 userDrawn="1"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 userDrawn="1"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 userDrawn="1"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 userDrawn="1"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 userDrawn="1"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 userDrawn="1"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 userDrawn="1"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 userDrawn="1"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 userDrawn="1"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 userDrawn="1"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 userDrawn="1"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 userDrawn="1"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 userDrawn="1"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 userDrawn="1"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4/23/2026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089B90-9928-0B5A-2345-18AB04941F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090275" y="6611620"/>
            <a:ext cx="10810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hyperlink" Target="http://www.st.com/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seo.st.com/toolbox/shortcuts/" TargetMode="Externa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935" y="2518265"/>
            <a:ext cx="7421262" cy="2702071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STM32Cube Ecosystem</a:t>
            </a:r>
            <a:br>
              <a:rPr lang="en-US" sz="3600" b="1" dirty="0">
                <a:solidFill>
                  <a:schemeClr val="bg1"/>
                </a:solidFill>
              </a:rPr>
            </a:br>
            <a:br>
              <a:rPr lang="en-US" sz="3600" b="1" dirty="0">
                <a:solidFill>
                  <a:schemeClr val="bg1"/>
                </a:solidFill>
              </a:rPr>
            </a:b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153B43C-0CFD-A1BC-39AA-903DA6F84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6907" y="2844838"/>
            <a:ext cx="1574816" cy="157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42AC-D53A-4867-BDBB-D51FDE85B5FD}"/>
              </a:ext>
            </a:extLst>
          </p:cNvPr>
          <p:cNvSpPr txBox="1">
            <a:spLocks/>
          </p:cNvSpPr>
          <p:nvPr/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/>
              <a:t>STM32Cube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5F2E4E-8825-427D-807E-D2FBECCB8947}"/>
              </a:ext>
            </a:extLst>
          </p:cNvPr>
          <p:cNvSpPr/>
          <p:nvPr/>
        </p:nvSpPr>
        <p:spPr>
          <a:xfrm>
            <a:off x="2" y="1307857"/>
            <a:ext cx="7249098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598" tIns="0" rIns="12696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400" b="1">
                <a:solidFill>
                  <a:schemeClr val="tx1"/>
                </a:solidFill>
                <a:cs typeface="Arial"/>
              </a:rPr>
              <a:t>Helping developers releasing their creativity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CEA62-7338-4849-8FEC-CFCA1E472DEC}"/>
              </a:ext>
            </a:extLst>
          </p:cNvPr>
          <p:cNvSpPr/>
          <p:nvPr/>
        </p:nvSpPr>
        <p:spPr>
          <a:xfrm>
            <a:off x="4125687" y="2872615"/>
            <a:ext cx="7783510" cy="77478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chemeClr val="accent4"/>
                </a:solidFill>
                <a:cs typeface="Arial"/>
              </a:rPr>
              <a:t>Develop faster</a:t>
            </a:r>
          </a:p>
          <a:p>
            <a:r>
              <a:rPr lang="en-US" dirty="0">
                <a:solidFill>
                  <a:schemeClr val="bg1"/>
                </a:solidFill>
                <a:cs typeface="Arial"/>
              </a:rPr>
              <a:t>With STM32 code generation tools, IDE and production-ready examples </a:t>
            </a:r>
            <a:endParaRPr lang="en-US" sz="160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24DD27-D5F2-4F8F-82B1-AFA07B457797}"/>
              </a:ext>
            </a:extLst>
          </p:cNvPr>
          <p:cNvSpPr/>
          <p:nvPr/>
        </p:nvSpPr>
        <p:spPr>
          <a:xfrm>
            <a:off x="4125684" y="4857556"/>
            <a:ext cx="7783510" cy="69258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chemeClr val="accent4"/>
                </a:solidFill>
                <a:cs typeface="Arial"/>
              </a:rPr>
              <a:t>Save costs</a:t>
            </a:r>
          </a:p>
          <a:p>
            <a:r>
              <a:rPr lang="en-US" dirty="0">
                <a:solidFill>
                  <a:schemeClr val="bg1"/>
                </a:solidFill>
                <a:cs typeface="Arial"/>
              </a:rPr>
              <a:t>With Free and permissive production licenses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5B5B9-990F-4146-A0CA-A192BB78723B}"/>
              </a:ext>
            </a:extLst>
          </p:cNvPr>
          <p:cNvSpPr/>
          <p:nvPr/>
        </p:nvSpPr>
        <p:spPr>
          <a:xfrm>
            <a:off x="4125686" y="3890056"/>
            <a:ext cx="7783510" cy="77478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chemeClr val="accent4"/>
                </a:solidFill>
                <a:cs typeface="Arial"/>
              </a:rPr>
              <a:t>Differentiate more</a:t>
            </a:r>
          </a:p>
          <a:p>
            <a:r>
              <a:rPr lang="en-US" dirty="0">
                <a:solidFill>
                  <a:schemeClr val="bg1"/>
                </a:solidFill>
                <a:cs typeface="Arial"/>
              </a:rPr>
              <a:t>With optimized drivers leveraging all STM32 smart features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3E76B8-4A81-5778-2FDE-477450FC6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886" y="2437893"/>
            <a:ext cx="2451334" cy="24513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D424AA-F854-60FE-D8C3-812425BC064A}"/>
              </a:ext>
            </a:extLst>
          </p:cNvPr>
          <p:cNvSpPr txBox="1"/>
          <p:nvPr/>
        </p:nvSpPr>
        <p:spPr>
          <a:xfrm>
            <a:off x="153009" y="4990489"/>
            <a:ext cx="1508746" cy="67710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1.5M</a:t>
            </a:r>
            <a:r>
              <a:rPr lang="en-DE" sz="2400" b="1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endParaRPr lang="en-US" sz="14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Active developer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78769-6725-11FB-7F72-F6D6A875F3A1}"/>
              </a:ext>
            </a:extLst>
          </p:cNvPr>
          <p:cNvSpPr txBox="1"/>
          <p:nvPr/>
        </p:nvSpPr>
        <p:spPr>
          <a:xfrm>
            <a:off x="1716020" y="4996418"/>
            <a:ext cx="2221570" cy="67710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76% CSAT</a:t>
            </a:r>
            <a:endParaRPr lang="en-US" sz="2000" b="1" baseline="500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at professional engineers</a:t>
            </a:r>
          </a:p>
        </p:txBody>
      </p:sp>
    </p:spTree>
    <p:extLst>
      <p:ext uri="{BB962C8B-B14F-4D97-AF65-F5344CB8AC3E}">
        <p14:creationId xmlns:p14="http://schemas.microsoft.com/office/powerpoint/2010/main" val="133007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 Ecosystem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Tools and software supporting you during all your design steps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C960D1A-5F9E-4820-CEAD-3FC70F348EB1}"/>
              </a:ext>
            </a:extLst>
          </p:cNvPr>
          <p:cNvGrpSpPr/>
          <p:nvPr/>
        </p:nvGrpSpPr>
        <p:grpSpPr>
          <a:xfrm>
            <a:off x="288306" y="2185553"/>
            <a:ext cx="11365740" cy="472152"/>
            <a:chOff x="288306" y="2220389"/>
            <a:chExt cx="11365740" cy="4721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0A78B00-08FA-3DE3-7D7E-3A0A01363949}"/>
                </a:ext>
              </a:extLst>
            </p:cNvPr>
            <p:cNvGrpSpPr/>
            <p:nvPr/>
          </p:nvGrpSpPr>
          <p:grpSpPr>
            <a:xfrm>
              <a:off x="288306" y="2220389"/>
              <a:ext cx="11365740" cy="472152"/>
              <a:chOff x="288306" y="2220389"/>
              <a:chExt cx="11365740" cy="472152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43037B-642F-3118-53F0-E007E4687232}"/>
                  </a:ext>
                </a:extLst>
              </p:cNvPr>
              <p:cNvSpPr/>
              <p:nvPr/>
            </p:nvSpPr>
            <p:spPr>
              <a:xfrm>
                <a:off x="2903238" y="2222978"/>
                <a:ext cx="8750808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CC8AF19-FF22-1C60-7312-0B6B8221390C}"/>
                  </a:ext>
                </a:extLst>
              </p:cNvPr>
              <p:cNvSpPr/>
              <p:nvPr/>
            </p:nvSpPr>
            <p:spPr>
              <a:xfrm>
                <a:off x="288306" y="2220389"/>
                <a:ext cx="2605307" cy="46506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Evaluation</a:t>
                </a:r>
              </a:p>
            </p:txBody>
          </p:sp>
          <p:pic>
            <p:nvPicPr>
              <p:cNvPr id="10" name="Picture 9" descr="A blue circuit board with black lines and wires&#10;&#10;Description automatically generated">
                <a:extLst>
                  <a:ext uri="{FF2B5EF4-FFF2-40B4-BE49-F238E27FC236}">
                    <a16:creationId xmlns:a16="http://schemas.microsoft.com/office/drawing/2014/main" id="{5B0A8CA8-1550-A069-E014-AF534A5D6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9295" y="2220389"/>
                <a:ext cx="499433" cy="472152"/>
              </a:xfrm>
              <a:prstGeom prst="rect">
                <a:avLst/>
              </a:prstGeom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F30D5E-0F82-1BE2-E67A-0D7B1FE86F16}"/>
                </a:ext>
              </a:extLst>
            </p:cNvPr>
            <p:cNvSpPr txBox="1"/>
            <p:nvPr/>
          </p:nvSpPr>
          <p:spPr>
            <a:xfrm>
              <a:off x="4623602" y="2295557"/>
              <a:ext cx="555372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>
                  <a:solidFill>
                    <a:srgbClr val="002060"/>
                  </a:solidFill>
                </a:rPr>
                <a:t>Large and affordable selection of evaluation kits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2627BF-CCBD-66AC-1FF2-FD8AF386DF39}"/>
              </a:ext>
            </a:extLst>
          </p:cNvPr>
          <p:cNvGrpSpPr/>
          <p:nvPr/>
        </p:nvGrpSpPr>
        <p:grpSpPr>
          <a:xfrm>
            <a:off x="288306" y="2758531"/>
            <a:ext cx="11589536" cy="517001"/>
            <a:chOff x="288306" y="2888175"/>
            <a:chExt cx="11589536" cy="51700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A94FB4-2F72-2E0E-21E2-9C3D59A9A533}"/>
                </a:ext>
              </a:extLst>
            </p:cNvPr>
            <p:cNvGrpSpPr/>
            <p:nvPr/>
          </p:nvGrpSpPr>
          <p:grpSpPr>
            <a:xfrm>
              <a:off x="288306" y="2888175"/>
              <a:ext cx="11364791" cy="517001"/>
              <a:chOff x="288306" y="2888175"/>
              <a:chExt cx="11150843" cy="51700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98261D-DAF7-BE19-7BD4-4A9BD8EAD99F}"/>
                  </a:ext>
                </a:extLst>
              </p:cNvPr>
              <p:cNvSpPr/>
              <p:nvPr/>
            </p:nvSpPr>
            <p:spPr>
              <a:xfrm>
                <a:off x="2853222" y="2904243"/>
                <a:ext cx="8585927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C3CA84-1C48-6160-D923-201BC98DCA80}"/>
                  </a:ext>
                </a:extLst>
              </p:cNvPr>
              <p:cNvSpPr/>
              <p:nvPr/>
            </p:nvSpPr>
            <p:spPr>
              <a:xfrm>
                <a:off x="288306" y="2906223"/>
                <a:ext cx="2556261" cy="46506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Getting Started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7FFF9FBF-493B-58E7-54D2-CE2C136B4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883109" y="2888175"/>
                <a:ext cx="928414" cy="517001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9B55D00-CC21-BD26-897E-9E5397E35BE5}"/>
                </a:ext>
              </a:extLst>
            </p:cNvPr>
            <p:cNvSpPr txBox="1"/>
            <p:nvPr/>
          </p:nvSpPr>
          <p:spPr>
            <a:xfrm>
              <a:off x="4623602" y="2976147"/>
              <a:ext cx="72542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rgbClr val="002060"/>
                  </a:solidFill>
                </a:rPr>
                <a:t>Efficient and intuitive MCU configuration with automatic code generation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24FAC1-C0BA-C65B-7784-EF1D3B531AA8}"/>
              </a:ext>
            </a:extLst>
          </p:cNvPr>
          <p:cNvGrpSpPr/>
          <p:nvPr/>
        </p:nvGrpSpPr>
        <p:grpSpPr>
          <a:xfrm>
            <a:off x="288306" y="3307020"/>
            <a:ext cx="11543859" cy="1710205"/>
            <a:chOff x="288306" y="3529406"/>
            <a:chExt cx="11543859" cy="171020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21A7F5-4BC8-D4CB-5AAB-38F772270517}"/>
                </a:ext>
              </a:extLst>
            </p:cNvPr>
            <p:cNvSpPr/>
            <p:nvPr/>
          </p:nvSpPr>
          <p:spPr>
            <a:xfrm>
              <a:off x="288306" y="3590820"/>
              <a:ext cx="2605533" cy="158930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chemeClr val="bg1"/>
                </a:buClr>
              </a:pPr>
              <a:r>
                <a:rPr lang="en-US" sz="1600" b="1"/>
                <a:t>Development and Debug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AEDDBB-DE6B-D061-C0C8-0876D408955A}"/>
                </a:ext>
              </a:extLst>
            </p:cNvPr>
            <p:cNvGrpSpPr/>
            <p:nvPr/>
          </p:nvGrpSpPr>
          <p:grpSpPr>
            <a:xfrm>
              <a:off x="2902434" y="3529406"/>
              <a:ext cx="8929731" cy="553998"/>
              <a:chOff x="2902434" y="3529406"/>
              <a:chExt cx="8929731" cy="55399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15BBCB7-2EAA-9430-4562-964960577408}"/>
                  </a:ext>
                </a:extLst>
              </p:cNvPr>
              <p:cNvGrpSpPr/>
              <p:nvPr/>
            </p:nvGrpSpPr>
            <p:grpSpPr>
              <a:xfrm>
                <a:off x="2902434" y="3531712"/>
                <a:ext cx="8750663" cy="550449"/>
                <a:chOff x="2914387" y="3508111"/>
                <a:chExt cx="8750663" cy="550449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4F50263-D83F-09CC-7DE3-2D5D64CDF185}"/>
                    </a:ext>
                  </a:extLst>
                </p:cNvPr>
                <p:cNvSpPr/>
                <p:nvPr/>
              </p:nvSpPr>
              <p:spPr>
                <a:xfrm>
                  <a:off x="2914387" y="3552263"/>
                  <a:ext cx="8750663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2" name="Graphic 11">
                  <a:extLst>
                    <a:ext uri="{FF2B5EF4-FFF2-40B4-BE49-F238E27FC236}">
                      <a16:creationId xmlns:a16="http://schemas.microsoft.com/office/drawing/2014/main" id="{2C46C986-FCC7-6CF4-64DA-8C3188815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6070" y="3508111"/>
                  <a:ext cx="1584304" cy="550449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EB480D-CDFA-1C15-C488-FAC770341319}"/>
                  </a:ext>
                </a:extLst>
              </p:cNvPr>
              <p:cNvSpPr txBox="1"/>
              <p:nvPr/>
            </p:nvSpPr>
            <p:spPr>
              <a:xfrm>
                <a:off x="4623602" y="3529406"/>
                <a:ext cx="720856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>
                    <a:solidFill>
                      <a:srgbClr val="002060"/>
                    </a:solidFill>
                  </a:rPr>
                  <a:t>Optimized drivers and middleware, full access to hardware features, production-ready examples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2A5298-1106-24E0-D897-8C7C3AD27BFC}"/>
                </a:ext>
              </a:extLst>
            </p:cNvPr>
            <p:cNvGrpSpPr/>
            <p:nvPr/>
          </p:nvGrpSpPr>
          <p:grpSpPr>
            <a:xfrm>
              <a:off x="2902433" y="4090694"/>
              <a:ext cx="8750663" cy="567385"/>
              <a:chOff x="2902433" y="4090694"/>
              <a:chExt cx="8750663" cy="56738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CAFBA63-69DC-D3A9-A021-9D0A441D53E6}"/>
                  </a:ext>
                </a:extLst>
              </p:cNvPr>
              <p:cNvGrpSpPr/>
              <p:nvPr/>
            </p:nvGrpSpPr>
            <p:grpSpPr>
              <a:xfrm>
                <a:off x="2902433" y="4090694"/>
                <a:ext cx="8750663" cy="567385"/>
                <a:chOff x="2939408" y="4032876"/>
                <a:chExt cx="8750663" cy="567385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511CDF2-BB77-0382-18B8-D4B4248584BF}"/>
                    </a:ext>
                  </a:extLst>
                </p:cNvPr>
                <p:cNvSpPr/>
                <p:nvPr/>
              </p:nvSpPr>
              <p:spPr>
                <a:xfrm>
                  <a:off x="2939408" y="4082256"/>
                  <a:ext cx="8750663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3" name="Graphic 12">
                  <a:extLst>
                    <a:ext uri="{FF2B5EF4-FFF2-40B4-BE49-F238E27FC236}">
                      <a16:creationId xmlns:a16="http://schemas.microsoft.com/office/drawing/2014/main" id="{CF7F0E0C-7CCB-C4A5-CFF2-E6A9143932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98899" y="4032876"/>
                  <a:ext cx="1254795" cy="567385"/>
                </a:xfrm>
                <a:prstGeom prst="rect">
                  <a:avLst/>
                </a:prstGeom>
              </p:spPr>
            </p:pic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1B9F8D-811E-A9BA-52AD-72BF4265C8A1}"/>
                  </a:ext>
                </a:extLst>
              </p:cNvPr>
              <p:cNvSpPr txBox="1"/>
              <p:nvPr/>
            </p:nvSpPr>
            <p:spPr>
              <a:xfrm>
                <a:off x="4623602" y="4211978"/>
                <a:ext cx="690214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>
                    <a:solidFill>
                      <a:srgbClr val="002060"/>
                    </a:solidFill>
                  </a:rPr>
                  <a:t>Extended selection of optimized middleware and part drivers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9377C1-775E-AAC3-FBBA-C5692674E15E}"/>
                </a:ext>
              </a:extLst>
            </p:cNvPr>
            <p:cNvGrpSpPr/>
            <p:nvPr/>
          </p:nvGrpSpPr>
          <p:grpSpPr>
            <a:xfrm>
              <a:off x="2902433" y="4640193"/>
              <a:ext cx="8750808" cy="599418"/>
              <a:chOff x="2902433" y="4640193"/>
              <a:chExt cx="8750808" cy="59941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AE63D41-6E9B-D07D-62CC-F2C8A5E2659D}"/>
                  </a:ext>
                </a:extLst>
              </p:cNvPr>
              <p:cNvGrpSpPr/>
              <p:nvPr/>
            </p:nvGrpSpPr>
            <p:grpSpPr>
              <a:xfrm>
                <a:off x="2902433" y="4640193"/>
                <a:ext cx="8750808" cy="595528"/>
                <a:chOff x="2925893" y="4664029"/>
                <a:chExt cx="8750808" cy="595528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82F1663-E22B-8B92-5A17-9F37F87EEC9A}"/>
                    </a:ext>
                  </a:extLst>
                </p:cNvPr>
                <p:cNvSpPr/>
                <p:nvPr/>
              </p:nvSpPr>
              <p:spPr>
                <a:xfrm>
                  <a:off x="2925893" y="4742617"/>
                  <a:ext cx="8750808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4" name="Graphic 13">
                  <a:extLst>
                    <a:ext uri="{FF2B5EF4-FFF2-40B4-BE49-F238E27FC236}">
                      <a16:creationId xmlns:a16="http://schemas.microsoft.com/office/drawing/2014/main" id="{BE2D9054-F39C-0977-73E6-9A8949A2E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40651" y="4664029"/>
                  <a:ext cx="992547" cy="595528"/>
                </a:xfrm>
                <a:prstGeom prst="rect">
                  <a:avLst/>
                </a:prstGeom>
              </p:spPr>
            </p:pic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0ED107-93D2-1AD7-7631-FD6198A6724C}"/>
                  </a:ext>
                </a:extLst>
              </p:cNvPr>
              <p:cNvSpPr txBox="1"/>
              <p:nvPr/>
            </p:nvSpPr>
            <p:spPr>
              <a:xfrm>
                <a:off x="4623602" y="4685613"/>
                <a:ext cx="6967932" cy="5539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 dirty="0">
                    <a:solidFill>
                      <a:srgbClr val="002060"/>
                    </a:solidFill>
                  </a:rPr>
                  <a:t>Eclipse &amp; </a:t>
                </a:r>
                <a:r>
                  <a:rPr lang="en-US" sz="1500" b="1" dirty="0" err="1">
                    <a:solidFill>
                      <a:srgbClr val="002060"/>
                    </a:solidFill>
                  </a:rPr>
                  <a:t>VSCode</a:t>
                </a:r>
                <a:r>
                  <a:rPr lang="en-US" sz="1500" b="1" dirty="0">
                    <a:solidFill>
                      <a:srgbClr val="002060"/>
                    </a:solidFill>
                  </a:rPr>
                  <a:t>, C/C++ code editing, GCC &amp;LLVM build, advanced debugging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6AEAB92-6375-B272-9158-DF62C948737F}"/>
              </a:ext>
            </a:extLst>
          </p:cNvPr>
          <p:cNvGrpSpPr/>
          <p:nvPr/>
        </p:nvGrpSpPr>
        <p:grpSpPr>
          <a:xfrm>
            <a:off x="297831" y="5031867"/>
            <a:ext cx="11364935" cy="568352"/>
            <a:chOff x="311766" y="5296585"/>
            <a:chExt cx="11324086" cy="56835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A678396-486C-6905-14FB-A430F34B5A2E}"/>
                </a:ext>
              </a:extLst>
            </p:cNvPr>
            <p:cNvGrpSpPr/>
            <p:nvPr/>
          </p:nvGrpSpPr>
          <p:grpSpPr>
            <a:xfrm>
              <a:off x="311766" y="5296585"/>
              <a:ext cx="11324086" cy="568352"/>
              <a:chOff x="311766" y="5296585"/>
              <a:chExt cx="11324086" cy="56835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6BEE63C-9871-7EB8-A330-471F213F0687}"/>
                  </a:ext>
                </a:extLst>
              </p:cNvPr>
              <p:cNvSpPr/>
              <p:nvPr/>
            </p:nvSpPr>
            <p:spPr>
              <a:xfrm>
                <a:off x="2916497" y="5347113"/>
                <a:ext cx="8719355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93CA999-835E-3027-71A6-9919BEA9E8B3}"/>
                  </a:ext>
                </a:extLst>
              </p:cNvPr>
              <p:cNvSpPr/>
              <p:nvPr/>
            </p:nvSpPr>
            <p:spPr>
              <a:xfrm>
                <a:off x="311766" y="5347130"/>
                <a:ext cx="2595943" cy="46634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Programming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10B8D76-1E6B-9895-03D0-F08A75DEB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991544" y="5296585"/>
                <a:ext cx="1344369" cy="568352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B5CC11-538F-89B3-8AB5-F7C397C06DD3}"/>
                </a:ext>
              </a:extLst>
            </p:cNvPr>
            <p:cNvSpPr txBox="1"/>
            <p:nvPr/>
          </p:nvSpPr>
          <p:spPr>
            <a:xfrm>
              <a:off x="4631480" y="5425752"/>
              <a:ext cx="579284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rgbClr val="002060"/>
                  </a:solidFill>
                </a:rPr>
                <a:t>Efficient and secure code and option bytes programming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98382E-63AE-3A0A-4ADC-F62F3604CCF5}"/>
              </a:ext>
            </a:extLst>
          </p:cNvPr>
          <p:cNvGrpSpPr/>
          <p:nvPr/>
        </p:nvGrpSpPr>
        <p:grpSpPr>
          <a:xfrm>
            <a:off x="288307" y="5666377"/>
            <a:ext cx="11363763" cy="512987"/>
            <a:chOff x="311767" y="5957854"/>
            <a:chExt cx="11363763" cy="5129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8AA01F-FBA5-33CC-5EB4-5C0E9B6BDAA4}"/>
                </a:ext>
              </a:extLst>
            </p:cNvPr>
            <p:cNvGrpSpPr/>
            <p:nvPr/>
          </p:nvGrpSpPr>
          <p:grpSpPr>
            <a:xfrm>
              <a:off x="311767" y="5957854"/>
              <a:ext cx="11363763" cy="512987"/>
              <a:chOff x="311767" y="5957854"/>
              <a:chExt cx="11166531" cy="51298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57CD29-1E05-7CED-39FE-D696B382A1A8}"/>
                  </a:ext>
                </a:extLst>
              </p:cNvPr>
              <p:cNvSpPr/>
              <p:nvPr/>
            </p:nvSpPr>
            <p:spPr>
              <a:xfrm>
                <a:off x="2879371" y="5982689"/>
                <a:ext cx="8598927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B483A25-B6D7-B1AF-8FB8-918DD921031D}"/>
                  </a:ext>
                </a:extLst>
              </p:cNvPr>
              <p:cNvSpPr/>
              <p:nvPr/>
            </p:nvSpPr>
            <p:spPr>
              <a:xfrm>
                <a:off x="311767" y="5975185"/>
                <a:ext cx="2560088" cy="46697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Monitoring</a:t>
                </a: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00289FBB-EE56-2858-3677-6A70547EA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949174" y="5957854"/>
                <a:ext cx="1011523" cy="512987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B1B24B-DBF1-596F-AFC7-2B3A62D774E1}"/>
                </a:ext>
              </a:extLst>
            </p:cNvPr>
            <p:cNvSpPr txBox="1"/>
            <p:nvPr/>
          </p:nvSpPr>
          <p:spPr>
            <a:xfrm>
              <a:off x="4652326" y="6047089"/>
              <a:ext cx="640185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rgbClr val="002060"/>
                  </a:solidFill>
                </a:rPr>
                <a:t>Graphical and non-intrusive code monitoring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32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EF6817-B440-EECB-B4F9-FBC145C1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 Ecosystem</a:t>
            </a:r>
            <a:endParaRPr lang="en-US" sz="4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8773F-014A-B53F-D528-2A1463E4736E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STM32Cube Ecosystem is evolving to help you even more</a:t>
            </a:r>
          </a:p>
        </p:txBody>
      </p:sp>
      <p:pic>
        <p:nvPicPr>
          <p:cNvPr id="3074" name="Picture 2" descr="Young man looking at drawing at blackboard">
            <a:extLst>
              <a:ext uri="{FF2B5EF4-FFF2-40B4-BE49-F238E27FC236}">
                <a16:creationId xmlns:a16="http://schemas.microsoft.com/office/drawing/2014/main" id="{019FC75A-4273-A6B4-43DF-06FB92317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5"/>
          <a:stretch/>
        </p:blipFill>
        <p:spPr bwMode="auto">
          <a:xfrm>
            <a:off x="557212" y="2462263"/>
            <a:ext cx="4588556" cy="357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BB0C69A-F3AE-024F-3CED-7FADF8E57C06}"/>
              </a:ext>
            </a:extLst>
          </p:cNvPr>
          <p:cNvSpPr txBox="1"/>
          <p:nvPr/>
        </p:nvSpPr>
        <p:spPr>
          <a:xfrm>
            <a:off x="557212" y="4564097"/>
            <a:ext cx="2837203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b="1" i="1" dirty="0">
                <a:solidFill>
                  <a:schemeClr val="bg1"/>
                </a:solidFill>
                <a:latin typeface="+mj-lt"/>
                <a:cs typeface="Dreaming Outloud Script Pro"/>
              </a:rPr>
              <a:t>“We cannot solve our problems with the same thinking we used when we create them” </a:t>
            </a:r>
          </a:p>
          <a:p>
            <a:pPr algn="r"/>
            <a:r>
              <a:rPr lang="en-US" b="1" dirty="0">
                <a:solidFill>
                  <a:schemeClr val="bg1"/>
                </a:solidFill>
                <a:latin typeface="+mj-lt"/>
              </a:rPr>
              <a:t>Albert Einstein</a:t>
            </a:r>
            <a:endParaRPr lang="en-US" b="1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F1211E-D683-E5A6-53EC-19D7F23FD97E}"/>
              </a:ext>
            </a:extLst>
          </p:cNvPr>
          <p:cNvSpPr/>
          <p:nvPr/>
        </p:nvSpPr>
        <p:spPr>
          <a:xfrm>
            <a:off x="4499090" y="2855891"/>
            <a:ext cx="7003821" cy="2791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b="1" dirty="0">
                <a:solidFill>
                  <a:schemeClr val="bg1"/>
                </a:solidFill>
              </a:rPr>
              <a:t>  </a:t>
            </a:r>
            <a:r>
              <a:rPr lang="en-US" sz="2000" b="1" dirty="0">
                <a:solidFill>
                  <a:schemeClr val="bg1"/>
                </a:solidFill>
              </a:rPr>
              <a:t>We are upgrading our STM32Cube Ecosystem to: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Implement developers’ expected enhancements and fixes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Introduce more advanced features and deploy them at scale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Accelerate our reactivity and release cycles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Strengthen our foundation to support richer STM32 MCUs roadmap </a:t>
            </a:r>
          </a:p>
        </p:txBody>
      </p:sp>
    </p:spTree>
    <p:extLst>
      <p:ext uri="{BB962C8B-B14F-4D97-AF65-F5344CB8AC3E}">
        <p14:creationId xmlns:p14="http://schemas.microsoft.com/office/powerpoint/2010/main" val="283915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EF6817-B440-EECB-B4F9-FBC145C1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 Ecosystem</a:t>
            </a:r>
            <a:endParaRPr lang="en-US" sz="4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8773F-014A-B53F-D528-2A1463E4736E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STM32Cube Ecosystem is evolving to help you even more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0C69A-F3AE-024F-3CED-7FADF8E57C06}"/>
              </a:ext>
            </a:extLst>
          </p:cNvPr>
          <p:cNvSpPr txBox="1"/>
          <p:nvPr/>
        </p:nvSpPr>
        <p:spPr>
          <a:xfrm>
            <a:off x="557212" y="4564097"/>
            <a:ext cx="2837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1">
                <a:solidFill>
                  <a:schemeClr val="bg1"/>
                </a:solidFill>
                <a:latin typeface="+mj-lt"/>
                <a:cs typeface="Dreaming Outloud Script Pro" panose="020F0502020204030204" pitchFamily="66" charset="0"/>
              </a:rPr>
              <a:t>“We Cannot solve our problems with the same thinking we used when we create them” </a:t>
            </a:r>
          </a:p>
          <a:p>
            <a:pPr algn="r"/>
            <a:r>
              <a:rPr lang="en-US" b="1">
                <a:solidFill>
                  <a:schemeClr val="bg1"/>
                </a:solidFill>
                <a:latin typeface="+mj-lt"/>
              </a:rPr>
              <a:t>Albert Einstein</a:t>
            </a:r>
          </a:p>
        </p:txBody>
      </p:sp>
      <p:pic>
        <p:nvPicPr>
          <p:cNvPr id="4" name="Picture 2" descr="holding blank wooden block cubes">
            <a:extLst>
              <a:ext uri="{FF2B5EF4-FFF2-40B4-BE49-F238E27FC236}">
                <a16:creationId xmlns:a16="http://schemas.microsoft.com/office/drawing/2014/main" id="{EEEDEB37-59E0-A0B6-20FD-B46716F4B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9"/>
          <a:stretch/>
        </p:blipFill>
        <p:spPr bwMode="auto">
          <a:xfrm>
            <a:off x="557212" y="2462263"/>
            <a:ext cx="4588556" cy="357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7F1211E-D683-E5A6-53EC-19D7F23FD97E}"/>
              </a:ext>
            </a:extLst>
          </p:cNvPr>
          <p:cNvSpPr/>
          <p:nvPr/>
        </p:nvSpPr>
        <p:spPr>
          <a:xfrm>
            <a:off x="4499090" y="2855891"/>
            <a:ext cx="7003821" cy="27919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b="1" dirty="0">
                <a:solidFill>
                  <a:schemeClr val="bg1"/>
                </a:solidFill>
              </a:rPr>
              <a:t>  </a:t>
            </a:r>
            <a:r>
              <a:rPr lang="en-US" sz="2000" b="1" dirty="0">
                <a:solidFill>
                  <a:schemeClr val="bg1"/>
                </a:solidFill>
              </a:rPr>
              <a:t>Our new architecture principals 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Decoupled embedded software and tools</a:t>
            </a:r>
          </a:p>
          <a:p>
            <a:pPr marL="742950" lvl="1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Modular and configurable embedded software components</a:t>
            </a:r>
          </a:p>
          <a:p>
            <a:pPr marL="742950" lvl="1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Data-centric tools, STM32 MCUs agnostic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Inter-operable tools instead of tools integration</a:t>
            </a:r>
          </a:p>
        </p:txBody>
      </p:sp>
    </p:spTree>
    <p:extLst>
      <p:ext uri="{BB962C8B-B14F-4D97-AF65-F5344CB8AC3E}">
        <p14:creationId xmlns:p14="http://schemas.microsoft.com/office/powerpoint/2010/main" val="408264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0DB8A2-40C6-89C2-B0A0-76BB8061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 Ecosystem</a:t>
            </a:r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71B3C3-7A30-7C52-D893-A05A6518A167}"/>
              </a:ext>
            </a:extLst>
          </p:cNvPr>
          <p:cNvSpPr/>
          <p:nvPr/>
        </p:nvSpPr>
        <p:spPr>
          <a:xfrm>
            <a:off x="4152479" y="2848865"/>
            <a:ext cx="7836196" cy="25928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Device Family Pack (DFP):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Data Describing each MCU (Pinout, clock, SVD, Flash, startup)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Modular software components (Software Packs)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1 driver pack for each series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1 pack for each Middleware, example, utility and external part drivers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Open-CMSIS-PACK format for each pack description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Data describing software licenses, versions, dependencies and configuration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Hardware-Independent tools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Software tools use DFP and Software Packs data as standard input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Capacity to automatically fetch and add dependencies. 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E87018-AB80-A21C-1C82-2FBD6AA8B677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STM32Cube Ecosystem new architecture principals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A4BCC78-A363-CDB9-3BE3-A6E0B94D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08" y="2163275"/>
            <a:ext cx="3825396" cy="400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8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 Ecosystem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rgbClr val="002060"/>
                </a:solidFill>
                <a:ea typeface="+mn-lt"/>
                <a:cs typeface="+mn-lt"/>
              </a:rPr>
              <a:t>STM32Cube Ecosystem is evolving to help you even more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C960D1A-5F9E-4820-CEAD-3FC70F348EB1}"/>
              </a:ext>
            </a:extLst>
          </p:cNvPr>
          <p:cNvGrpSpPr/>
          <p:nvPr/>
        </p:nvGrpSpPr>
        <p:grpSpPr>
          <a:xfrm>
            <a:off x="288306" y="2185553"/>
            <a:ext cx="11365740" cy="472152"/>
            <a:chOff x="288306" y="2220389"/>
            <a:chExt cx="11365740" cy="4721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0A78B00-08FA-3DE3-7D7E-3A0A01363949}"/>
                </a:ext>
              </a:extLst>
            </p:cNvPr>
            <p:cNvGrpSpPr/>
            <p:nvPr/>
          </p:nvGrpSpPr>
          <p:grpSpPr>
            <a:xfrm>
              <a:off x="288306" y="2220389"/>
              <a:ext cx="11365740" cy="472152"/>
              <a:chOff x="288306" y="2220389"/>
              <a:chExt cx="11365740" cy="472152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43037B-642F-3118-53F0-E007E4687232}"/>
                  </a:ext>
                </a:extLst>
              </p:cNvPr>
              <p:cNvSpPr/>
              <p:nvPr/>
            </p:nvSpPr>
            <p:spPr>
              <a:xfrm>
                <a:off x="2903238" y="2222978"/>
                <a:ext cx="8750808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CC8AF19-FF22-1C60-7312-0B6B8221390C}"/>
                  </a:ext>
                </a:extLst>
              </p:cNvPr>
              <p:cNvSpPr/>
              <p:nvPr/>
            </p:nvSpPr>
            <p:spPr>
              <a:xfrm>
                <a:off x="288306" y="2220389"/>
                <a:ext cx="2605307" cy="46506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Evaluation</a:t>
                </a:r>
              </a:p>
            </p:txBody>
          </p:sp>
          <p:pic>
            <p:nvPicPr>
              <p:cNvPr id="10" name="Picture 9" descr="A blue circuit board with black lines and wires&#10;&#10;Description automatically generated">
                <a:extLst>
                  <a:ext uri="{FF2B5EF4-FFF2-40B4-BE49-F238E27FC236}">
                    <a16:creationId xmlns:a16="http://schemas.microsoft.com/office/drawing/2014/main" id="{5B0A8CA8-1550-A069-E014-AF534A5D6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9295" y="2220389"/>
                <a:ext cx="499433" cy="472152"/>
              </a:xfrm>
              <a:prstGeom prst="rect">
                <a:avLst/>
              </a:prstGeom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F30D5E-0F82-1BE2-E67A-0D7B1FE86F16}"/>
                </a:ext>
              </a:extLst>
            </p:cNvPr>
            <p:cNvSpPr txBox="1"/>
            <p:nvPr/>
          </p:nvSpPr>
          <p:spPr>
            <a:xfrm>
              <a:off x="4528421" y="2305339"/>
              <a:ext cx="640711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>
                  <a:solidFill>
                    <a:schemeClr val="accent2"/>
                  </a:solidFill>
                </a:rPr>
                <a:t>Faster start from boards, faster access to examples and demos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2627BF-CCBD-66AC-1FF2-FD8AF386DF39}"/>
              </a:ext>
            </a:extLst>
          </p:cNvPr>
          <p:cNvGrpSpPr/>
          <p:nvPr/>
        </p:nvGrpSpPr>
        <p:grpSpPr>
          <a:xfrm>
            <a:off x="288306" y="2758531"/>
            <a:ext cx="11467834" cy="517001"/>
            <a:chOff x="288306" y="2888175"/>
            <a:chExt cx="11467834" cy="51700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A94FB4-2F72-2E0E-21E2-9C3D59A9A533}"/>
                </a:ext>
              </a:extLst>
            </p:cNvPr>
            <p:cNvGrpSpPr/>
            <p:nvPr/>
          </p:nvGrpSpPr>
          <p:grpSpPr>
            <a:xfrm>
              <a:off x="288306" y="2888175"/>
              <a:ext cx="11364791" cy="517001"/>
              <a:chOff x="288306" y="2888175"/>
              <a:chExt cx="11150843" cy="51700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98261D-DAF7-BE19-7BD4-4A9BD8EAD99F}"/>
                  </a:ext>
                </a:extLst>
              </p:cNvPr>
              <p:cNvSpPr/>
              <p:nvPr/>
            </p:nvSpPr>
            <p:spPr>
              <a:xfrm>
                <a:off x="2853222" y="2904243"/>
                <a:ext cx="8585927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C3CA84-1C48-6160-D923-201BC98DCA80}"/>
                  </a:ext>
                </a:extLst>
              </p:cNvPr>
              <p:cNvSpPr/>
              <p:nvPr/>
            </p:nvSpPr>
            <p:spPr>
              <a:xfrm>
                <a:off x="288306" y="2906223"/>
                <a:ext cx="2556261" cy="46506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Getting Started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7FFF9FBF-493B-58E7-54D2-CE2C136B4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83109" y="2888175"/>
                <a:ext cx="928414" cy="517001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9B55D00-CC21-BD26-897E-9E5397E35BE5}"/>
                </a:ext>
              </a:extLst>
            </p:cNvPr>
            <p:cNvSpPr txBox="1"/>
            <p:nvPr/>
          </p:nvSpPr>
          <p:spPr>
            <a:xfrm>
              <a:off x="4501900" y="2976147"/>
              <a:ext cx="72542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chemeClr val="accent2"/>
                  </a:solidFill>
                </a:rPr>
                <a:t>Enhanced configuration, code preview, flexible code structure, easier porting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24FAC1-C0BA-C65B-7784-EF1D3B531AA8}"/>
              </a:ext>
            </a:extLst>
          </p:cNvPr>
          <p:cNvGrpSpPr/>
          <p:nvPr/>
        </p:nvGrpSpPr>
        <p:grpSpPr>
          <a:xfrm>
            <a:off x="288306" y="3309326"/>
            <a:ext cx="11448678" cy="1704009"/>
            <a:chOff x="288306" y="3531712"/>
            <a:chExt cx="11448678" cy="17040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21A7F5-4BC8-D4CB-5AAB-38F772270517}"/>
                </a:ext>
              </a:extLst>
            </p:cNvPr>
            <p:cNvSpPr/>
            <p:nvPr/>
          </p:nvSpPr>
          <p:spPr>
            <a:xfrm>
              <a:off x="288306" y="3590820"/>
              <a:ext cx="2605533" cy="158930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chemeClr val="bg1"/>
                </a:buClr>
              </a:pPr>
              <a:r>
                <a:rPr lang="en-US" sz="1600" b="1"/>
                <a:t>Development and Debug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AEDDBB-DE6B-D061-C0C8-0876D408955A}"/>
                </a:ext>
              </a:extLst>
            </p:cNvPr>
            <p:cNvGrpSpPr/>
            <p:nvPr/>
          </p:nvGrpSpPr>
          <p:grpSpPr>
            <a:xfrm>
              <a:off x="2902434" y="3531712"/>
              <a:ext cx="8834550" cy="550449"/>
              <a:chOff x="2902434" y="3531712"/>
              <a:chExt cx="8834550" cy="550449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15BBCB7-2EAA-9430-4562-964960577408}"/>
                  </a:ext>
                </a:extLst>
              </p:cNvPr>
              <p:cNvGrpSpPr/>
              <p:nvPr/>
            </p:nvGrpSpPr>
            <p:grpSpPr>
              <a:xfrm>
                <a:off x="2902434" y="3531712"/>
                <a:ext cx="8750663" cy="550449"/>
                <a:chOff x="2914387" y="3508111"/>
                <a:chExt cx="8750663" cy="550449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4F50263-D83F-09CC-7DE3-2D5D64CDF185}"/>
                    </a:ext>
                  </a:extLst>
                </p:cNvPr>
                <p:cNvSpPr/>
                <p:nvPr/>
              </p:nvSpPr>
              <p:spPr>
                <a:xfrm>
                  <a:off x="2914387" y="3552263"/>
                  <a:ext cx="8750663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2" name="Graphic 11">
                  <a:extLst>
                    <a:ext uri="{FF2B5EF4-FFF2-40B4-BE49-F238E27FC236}">
                      <a16:creationId xmlns:a16="http://schemas.microsoft.com/office/drawing/2014/main" id="{2C46C986-FCC7-6CF4-64DA-8C3188815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6070" y="3508111"/>
                  <a:ext cx="1584304" cy="550449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EB480D-CDFA-1C15-C488-FAC770341319}"/>
                  </a:ext>
                </a:extLst>
              </p:cNvPr>
              <p:cNvSpPr txBox="1"/>
              <p:nvPr/>
            </p:nvSpPr>
            <p:spPr>
              <a:xfrm>
                <a:off x="4528421" y="3653280"/>
                <a:ext cx="720856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>
                    <a:solidFill>
                      <a:schemeClr val="accent2"/>
                    </a:solidFill>
                  </a:rPr>
                  <a:t>Higher Modularity, lower footprint and higher quality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2A5298-1106-24E0-D897-8C7C3AD27BFC}"/>
                </a:ext>
              </a:extLst>
            </p:cNvPr>
            <p:cNvGrpSpPr/>
            <p:nvPr/>
          </p:nvGrpSpPr>
          <p:grpSpPr>
            <a:xfrm>
              <a:off x="2902433" y="4090694"/>
              <a:ext cx="8750663" cy="567385"/>
              <a:chOff x="2902433" y="4090694"/>
              <a:chExt cx="8750663" cy="56738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CAFBA63-69DC-D3A9-A021-9D0A441D53E6}"/>
                  </a:ext>
                </a:extLst>
              </p:cNvPr>
              <p:cNvGrpSpPr/>
              <p:nvPr/>
            </p:nvGrpSpPr>
            <p:grpSpPr>
              <a:xfrm>
                <a:off x="2902433" y="4090694"/>
                <a:ext cx="8750663" cy="567385"/>
                <a:chOff x="2939408" y="4032876"/>
                <a:chExt cx="8750663" cy="567385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511CDF2-BB77-0382-18B8-D4B4248584BF}"/>
                    </a:ext>
                  </a:extLst>
                </p:cNvPr>
                <p:cNvSpPr/>
                <p:nvPr/>
              </p:nvSpPr>
              <p:spPr>
                <a:xfrm>
                  <a:off x="2939408" y="4082256"/>
                  <a:ext cx="8750663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3" name="Graphic 12">
                  <a:extLst>
                    <a:ext uri="{FF2B5EF4-FFF2-40B4-BE49-F238E27FC236}">
                      <a16:creationId xmlns:a16="http://schemas.microsoft.com/office/drawing/2014/main" id="{CF7F0E0C-7CCB-C4A5-CFF2-E6A9143932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98899" y="4032876"/>
                  <a:ext cx="1254795" cy="567385"/>
                </a:xfrm>
                <a:prstGeom prst="rect">
                  <a:avLst/>
                </a:prstGeom>
              </p:spPr>
            </p:pic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1B9F8D-811E-A9BA-52AD-72BF4265C8A1}"/>
                  </a:ext>
                </a:extLst>
              </p:cNvPr>
              <p:cNvSpPr txBox="1"/>
              <p:nvPr/>
            </p:nvSpPr>
            <p:spPr>
              <a:xfrm>
                <a:off x="4528421" y="4221616"/>
                <a:ext cx="690214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>
                    <a:solidFill>
                      <a:schemeClr val="accent2"/>
                    </a:solidFill>
                  </a:rPr>
                  <a:t>Simplified extensions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9377C1-775E-AAC3-FBBA-C5692674E15E}"/>
                </a:ext>
              </a:extLst>
            </p:cNvPr>
            <p:cNvGrpSpPr/>
            <p:nvPr/>
          </p:nvGrpSpPr>
          <p:grpSpPr>
            <a:xfrm>
              <a:off x="2902433" y="4640193"/>
              <a:ext cx="8750808" cy="595528"/>
              <a:chOff x="2902433" y="4640193"/>
              <a:chExt cx="8750808" cy="59552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AE63D41-6E9B-D07D-62CC-F2C8A5E2659D}"/>
                  </a:ext>
                </a:extLst>
              </p:cNvPr>
              <p:cNvGrpSpPr/>
              <p:nvPr/>
            </p:nvGrpSpPr>
            <p:grpSpPr>
              <a:xfrm>
                <a:off x="2902433" y="4640193"/>
                <a:ext cx="8750808" cy="595528"/>
                <a:chOff x="2925893" y="4664029"/>
                <a:chExt cx="8750808" cy="595528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82F1663-E22B-8B92-5A17-9F37F87EEC9A}"/>
                    </a:ext>
                  </a:extLst>
                </p:cNvPr>
                <p:cNvSpPr/>
                <p:nvPr/>
              </p:nvSpPr>
              <p:spPr>
                <a:xfrm>
                  <a:off x="2925893" y="4742617"/>
                  <a:ext cx="8750808" cy="4669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  <a:alpha val="22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285750" indent="-285750">
                    <a:buClr>
                      <a:schemeClr val="bg1"/>
                    </a:buClr>
                    <a:buFont typeface="Arial" panose="020B0604020202020204" pitchFamily="34" charset="0"/>
                    <a:buChar char="•"/>
                  </a:pPr>
                  <a:endParaRPr lang="en-US" sz="1600">
                    <a:solidFill>
                      <a:srgbClr val="002060"/>
                    </a:solidFill>
                  </a:endParaRPr>
                </a:p>
              </p:txBody>
            </p:sp>
            <p:pic>
              <p:nvPicPr>
                <p:cNvPr id="14" name="Graphic 13">
                  <a:extLst>
                    <a:ext uri="{FF2B5EF4-FFF2-40B4-BE49-F238E27FC236}">
                      <a16:creationId xmlns:a16="http://schemas.microsoft.com/office/drawing/2014/main" id="{BE2D9054-F39C-0977-73E6-9A8949A2E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40651" y="4664029"/>
                  <a:ext cx="992547" cy="595528"/>
                </a:xfrm>
                <a:prstGeom prst="rect">
                  <a:avLst/>
                </a:prstGeom>
              </p:spPr>
            </p:pic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0ED107-93D2-1AD7-7631-FD6198A6724C}"/>
                  </a:ext>
                </a:extLst>
              </p:cNvPr>
              <p:cNvSpPr txBox="1"/>
              <p:nvPr/>
            </p:nvSpPr>
            <p:spPr>
              <a:xfrm>
                <a:off x="4528420" y="4802169"/>
                <a:ext cx="623019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1500" b="1" dirty="0">
                    <a:solidFill>
                      <a:schemeClr val="accent2"/>
                    </a:solidFill>
                  </a:rPr>
                  <a:t>VSCode as new framework, enhanced edit, build and debug  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6AEAB92-6375-B272-9158-DF62C948737F}"/>
              </a:ext>
            </a:extLst>
          </p:cNvPr>
          <p:cNvGrpSpPr/>
          <p:nvPr/>
        </p:nvGrpSpPr>
        <p:grpSpPr>
          <a:xfrm>
            <a:off x="297831" y="5031867"/>
            <a:ext cx="11364935" cy="568352"/>
            <a:chOff x="311766" y="5296585"/>
            <a:chExt cx="11324086" cy="56835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A678396-486C-6905-14FB-A430F34B5A2E}"/>
                </a:ext>
              </a:extLst>
            </p:cNvPr>
            <p:cNvGrpSpPr/>
            <p:nvPr/>
          </p:nvGrpSpPr>
          <p:grpSpPr>
            <a:xfrm>
              <a:off x="311766" y="5296585"/>
              <a:ext cx="11324086" cy="568352"/>
              <a:chOff x="311766" y="5296585"/>
              <a:chExt cx="11324086" cy="56835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6BEE63C-9871-7EB8-A330-471F213F0687}"/>
                  </a:ext>
                </a:extLst>
              </p:cNvPr>
              <p:cNvSpPr/>
              <p:nvPr/>
            </p:nvSpPr>
            <p:spPr>
              <a:xfrm>
                <a:off x="2916497" y="5347113"/>
                <a:ext cx="8719355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93CA999-835E-3027-71A6-9919BEA9E8B3}"/>
                  </a:ext>
                </a:extLst>
              </p:cNvPr>
              <p:cNvSpPr/>
              <p:nvPr/>
            </p:nvSpPr>
            <p:spPr>
              <a:xfrm>
                <a:off x="311766" y="5347130"/>
                <a:ext cx="2595943" cy="46634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Programming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10B8D76-1E6B-9895-03D0-F08A75DEB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991544" y="5296585"/>
                <a:ext cx="1344369" cy="568352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B5CC11-538F-89B3-8AB5-F7C397C06DD3}"/>
                </a:ext>
              </a:extLst>
            </p:cNvPr>
            <p:cNvSpPr txBox="1"/>
            <p:nvPr/>
          </p:nvSpPr>
          <p:spPr>
            <a:xfrm>
              <a:off x="4527150" y="5425686"/>
              <a:ext cx="579284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chemeClr val="accent2"/>
                  </a:solidFill>
                </a:rPr>
                <a:t>Increased speed and extended probes support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98382E-63AE-3A0A-4ADC-F62F3604CCF5}"/>
              </a:ext>
            </a:extLst>
          </p:cNvPr>
          <p:cNvGrpSpPr/>
          <p:nvPr/>
        </p:nvGrpSpPr>
        <p:grpSpPr>
          <a:xfrm>
            <a:off x="288307" y="5666377"/>
            <a:ext cx="11363763" cy="512987"/>
            <a:chOff x="311767" y="5957854"/>
            <a:chExt cx="11363763" cy="5129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8AA01F-FBA5-33CC-5EB4-5C0E9B6BDAA4}"/>
                </a:ext>
              </a:extLst>
            </p:cNvPr>
            <p:cNvGrpSpPr/>
            <p:nvPr/>
          </p:nvGrpSpPr>
          <p:grpSpPr>
            <a:xfrm>
              <a:off x="311767" y="5957854"/>
              <a:ext cx="11363763" cy="512987"/>
              <a:chOff x="311767" y="5957854"/>
              <a:chExt cx="11166531" cy="51298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57CD29-1E05-7CED-39FE-D696B382A1A8}"/>
                  </a:ext>
                </a:extLst>
              </p:cNvPr>
              <p:cNvSpPr/>
              <p:nvPr/>
            </p:nvSpPr>
            <p:spPr>
              <a:xfrm>
                <a:off x="2879371" y="5982689"/>
                <a:ext cx="8598927" cy="46697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2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rgbClr val="00206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B483A25-B6D7-B1AF-8FB8-918DD921031D}"/>
                  </a:ext>
                </a:extLst>
              </p:cNvPr>
              <p:cNvSpPr/>
              <p:nvPr/>
            </p:nvSpPr>
            <p:spPr>
              <a:xfrm>
                <a:off x="311767" y="5975185"/>
                <a:ext cx="2560088" cy="46697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1600" b="1"/>
                  <a:t>Monitoring</a:t>
                </a: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00289FBB-EE56-2858-3677-6A70547EA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949174" y="5957854"/>
                <a:ext cx="1011523" cy="512987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B1B24B-DBF1-596F-AFC7-2B3A62D774E1}"/>
                </a:ext>
              </a:extLst>
            </p:cNvPr>
            <p:cNvSpPr txBox="1"/>
            <p:nvPr/>
          </p:nvSpPr>
          <p:spPr>
            <a:xfrm>
              <a:off x="4557145" y="6054593"/>
              <a:ext cx="640185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bg1"/>
                </a:buClr>
              </a:pPr>
              <a:r>
                <a:rPr lang="en-US" sz="1500" b="1">
                  <a:solidFill>
                    <a:schemeClr val="accent2"/>
                  </a:solidFill>
                </a:rPr>
                <a:t>More specialized monitoring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635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STM32CubeMCU Packages Evolution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bg1"/>
              </a:buClr>
            </a:pPr>
            <a:r>
              <a:rPr lang="en-US" sz="2000" b="1">
                <a:solidFill>
                  <a:srgbClr val="002060"/>
                </a:solidFill>
              </a:rPr>
              <a:t>HAL drivers are upgraded, LL drivers are unchanged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9343B-CD6B-DF08-A2CA-13F3D2FF2B71}"/>
              </a:ext>
            </a:extLst>
          </p:cNvPr>
          <p:cNvGrpSpPr/>
          <p:nvPr/>
        </p:nvGrpSpPr>
        <p:grpSpPr>
          <a:xfrm>
            <a:off x="2418504" y="2347221"/>
            <a:ext cx="3510572" cy="523220"/>
            <a:chOff x="-5798713" y="3782064"/>
            <a:chExt cx="3510572" cy="523220"/>
          </a:xfrm>
        </p:grpSpPr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181F657-E1C1-F9E5-D892-56C7EC88294F}"/>
                </a:ext>
              </a:extLst>
            </p:cNvPr>
            <p:cNvSpPr/>
            <p:nvPr/>
          </p:nvSpPr>
          <p:spPr>
            <a:xfrm>
              <a:off x="-4487309" y="3883742"/>
              <a:ext cx="387627" cy="313902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sz="2400" err="1">
                <a:solidFill>
                  <a:schemeClr val="accent3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0F5DC44-4596-186C-E99B-E59E58747748}"/>
                </a:ext>
              </a:extLst>
            </p:cNvPr>
            <p:cNvSpPr txBox="1"/>
            <p:nvPr/>
          </p:nvSpPr>
          <p:spPr>
            <a:xfrm>
              <a:off x="-5798713" y="3782064"/>
              <a:ext cx="9236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800" b="1">
                  <a:solidFill>
                    <a:schemeClr val="accent3"/>
                  </a:solidFill>
                </a:rPr>
                <a:t>HAL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106448-48F5-6B21-FEB3-2774BE61DB03}"/>
                </a:ext>
              </a:extLst>
            </p:cNvPr>
            <p:cNvSpPr txBox="1"/>
            <p:nvPr/>
          </p:nvSpPr>
          <p:spPr>
            <a:xfrm>
              <a:off x="-3711929" y="3782064"/>
              <a:ext cx="14237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800" b="1">
                  <a:solidFill>
                    <a:schemeClr val="accent3"/>
                  </a:solidFill>
                </a:rPr>
                <a:t>HAL2.x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96F1C-C74E-5CA4-DA95-727C7EAA9ADC}"/>
              </a:ext>
            </a:extLst>
          </p:cNvPr>
          <p:cNvGrpSpPr/>
          <p:nvPr/>
        </p:nvGrpSpPr>
        <p:grpSpPr>
          <a:xfrm>
            <a:off x="104039" y="3055173"/>
            <a:ext cx="7675371" cy="2862542"/>
            <a:chOff x="1204280" y="2571105"/>
            <a:chExt cx="7675371" cy="286254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2E81B-F01C-C623-DA7C-454C5BDDE6A7}"/>
                </a:ext>
              </a:extLst>
            </p:cNvPr>
            <p:cNvSpPr/>
            <p:nvPr/>
          </p:nvSpPr>
          <p:spPr>
            <a:xfrm>
              <a:off x="1261319" y="2657246"/>
              <a:ext cx="7561294" cy="277640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US" sz="1600">
                <a:solidFill>
                  <a:srgbClr val="00206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EB1000-5D05-5901-F503-4F5321B24673}"/>
                </a:ext>
              </a:extLst>
            </p:cNvPr>
            <p:cNvSpPr txBox="1"/>
            <p:nvPr/>
          </p:nvSpPr>
          <p:spPr>
            <a:xfrm>
              <a:off x="1204280" y="2571105"/>
              <a:ext cx="7675371" cy="2776401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Optimized footprint: </a:t>
              </a:r>
              <a:r>
                <a:rPr lang="en-US" sz="1600" dirty="0"/>
                <a:t>up to 59%* lower flash size </a:t>
              </a:r>
              <a:endParaRPr lang="en-US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Improved API: </a:t>
              </a:r>
              <a:r>
                <a:rPr lang="en-US" sz="1600" dirty="0"/>
                <a:t>simplified APIs, faster execution, added missing functions 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Improved portability: </a:t>
              </a:r>
              <a:r>
                <a:rPr lang="en-US" sz="1600" dirty="0"/>
                <a:t>compatibility across STM32 series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Enhanced quality: </a:t>
              </a:r>
              <a:r>
                <a:rPr lang="en-US" sz="1600" dirty="0"/>
                <a:t>IEC61508/SC2 and MISRA C compliant, statical analysis</a:t>
              </a:r>
              <a:endParaRPr lang="en-US" sz="1600" dirty="0">
                <a:cs typeface="Arial"/>
              </a:endParaRP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HAL2 built on top of LL: </a:t>
              </a:r>
              <a:r>
                <a:rPr lang="en-US" sz="1600" dirty="0"/>
                <a:t>HAL2 now calling LL APIs</a:t>
              </a:r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4C9774D-53EB-9A88-E502-C439B723D3E6}"/>
              </a:ext>
            </a:extLst>
          </p:cNvPr>
          <p:cNvSpPr/>
          <p:nvPr/>
        </p:nvSpPr>
        <p:spPr>
          <a:xfrm>
            <a:off x="7895483" y="3132768"/>
            <a:ext cx="4057588" cy="27764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022F1-33DB-5650-C385-80516CD930A2}"/>
              </a:ext>
            </a:extLst>
          </p:cNvPr>
          <p:cNvSpPr txBox="1"/>
          <p:nvPr/>
        </p:nvSpPr>
        <p:spPr>
          <a:xfrm>
            <a:off x="7957303" y="3081118"/>
            <a:ext cx="4021565" cy="27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Saving memory and cost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Shorter design, higher perf. 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Accelerated migration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More reuse, Safety ready code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Easier and faster optimization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BC88771-649B-23F9-544E-BB9F75FD21EA}"/>
              </a:ext>
            </a:extLst>
          </p:cNvPr>
          <p:cNvSpPr/>
          <p:nvPr/>
        </p:nvSpPr>
        <p:spPr>
          <a:xfrm rot="16200000">
            <a:off x="7707293" y="3278376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B46F56F-666D-170E-3A96-79862970E5DB}"/>
              </a:ext>
            </a:extLst>
          </p:cNvPr>
          <p:cNvSpPr/>
          <p:nvPr/>
        </p:nvSpPr>
        <p:spPr>
          <a:xfrm rot="16200000">
            <a:off x="7705099" y="4356662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00A0F2C-6AFD-F62B-33BA-4CE204C73B0A}"/>
              </a:ext>
            </a:extLst>
          </p:cNvPr>
          <p:cNvSpPr/>
          <p:nvPr/>
        </p:nvSpPr>
        <p:spPr>
          <a:xfrm rot="16200000">
            <a:off x="7705099" y="3832440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A3B1B78-42D5-709F-9F48-8C8971F883AD}"/>
              </a:ext>
            </a:extLst>
          </p:cNvPr>
          <p:cNvSpPr/>
          <p:nvPr/>
        </p:nvSpPr>
        <p:spPr>
          <a:xfrm rot="16200000">
            <a:off x="7701906" y="4921623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8B0717D-0982-9992-9A06-F5F4624159F6}"/>
              </a:ext>
            </a:extLst>
          </p:cNvPr>
          <p:cNvSpPr/>
          <p:nvPr/>
        </p:nvSpPr>
        <p:spPr>
          <a:xfrm rot="16200000">
            <a:off x="7696518" y="5456819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F9ADD7-936E-924B-6C47-EE97167E79A5}"/>
              </a:ext>
            </a:extLst>
          </p:cNvPr>
          <p:cNvSpPr txBox="1"/>
          <p:nvPr/>
        </p:nvSpPr>
        <p:spPr>
          <a:xfrm>
            <a:off x="5520272" y="5912423"/>
            <a:ext cx="2278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/>
              <a:t>*measured on RCC on STM32U5</a:t>
            </a:r>
          </a:p>
        </p:txBody>
      </p:sp>
    </p:spTree>
    <p:extLst>
      <p:ext uri="{BB962C8B-B14F-4D97-AF65-F5344CB8AC3E}">
        <p14:creationId xmlns:p14="http://schemas.microsoft.com/office/powerpoint/2010/main" val="308411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STM32CubeMCU Packages Evolution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bg1"/>
              </a:buClr>
            </a:pPr>
            <a:r>
              <a:rPr lang="en-US" sz="2000" b="1">
                <a:solidFill>
                  <a:srgbClr val="002060"/>
                </a:solidFill>
              </a:rPr>
              <a:t>Our embedded software packages are reworked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96F1C-C74E-5CA4-DA95-727C7EAA9ADC}"/>
              </a:ext>
            </a:extLst>
          </p:cNvPr>
          <p:cNvGrpSpPr/>
          <p:nvPr/>
        </p:nvGrpSpPr>
        <p:grpSpPr>
          <a:xfrm>
            <a:off x="276115" y="3132768"/>
            <a:ext cx="7471666" cy="2776401"/>
            <a:chOff x="1237397" y="2657246"/>
            <a:chExt cx="7471666" cy="27764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2E81B-F01C-C623-DA7C-454C5BDDE6A7}"/>
                </a:ext>
              </a:extLst>
            </p:cNvPr>
            <p:cNvSpPr/>
            <p:nvPr/>
          </p:nvSpPr>
          <p:spPr>
            <a:xfrm>
              <a:off x="1261319" y="2657246"/>
              <a:ext cx="7447744" cy="2776401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US" sz="1600">
                <a:solidFill>
                  <a:srgbClr val="00206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EB1000-5D05-5901-F503-4F5321B24673}"/>
                </a:ext>
              </a:extLst>
            </p:cNvPr>
            <p:cNvSpPr txBox="1"/>
            <p:nvPr/>
          </p:nvSpPr>
          <p:spPr>
            <a:xfrm>
              <a:off x="1237397" y="2874676"/>
              <a:ext cx="7285136" cy="2222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Modular software components: </a:t>
              </a:r>
              <a:r>
                <a:rPr lang="en-US" sz="1600" dirty="0"/>
                <a:t>unitary, OPEN-CMSIS-PACK based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More examples: </a:t>
              </a:r>
              <a:r>
                <a:rPr lang="en-US" sz="1600" dirty="0"/>
                <a:t>reference use of all STM32 MCU features  </a:t>
              </a:r>
              <a:endParaRPr lang="en-US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Improved example’s structure </a:t>
              </a:r>
              <a:r>
                <a:rPr lang="en-US" sz="1600" dirty="0"/>
                <a:t>made boards and IDEs agnostic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Enhanced BSP architecture: </a:t>
              </a:r>
              <a:r>
                <a:rPr lang="en-US" sz="1600" dirty="0"/>
                <a:t>based on part driver's layer</a:t>
              </a:r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4C9774D-53EB-9A88-E502-C439B723D3E6}"/>
              </a:ext>
            </a:extLst>
          </p:cNvPr>
          <p:cNvSpPr/>
          <p:nvPr/>
        </p:nvSpPr>
        <p:spPr>
          <a:xfrm>
            <a:off x="7895483" y="3132768"/>
            <a:ext cx="4057588" cy="27764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022F1-33DB-5650-C385-80516CD930A2}"/>
              </a:ext>
            </a:extLst>
          </p:cNvPr>
          <p:cNvSpPr txBox="1"/>
          <p:nvPr/>
        </p:nvSpPr>
        <p:spPr>
          <a:xfrm>
            <a:off x="7902667" y="3350198"/>
            <a:ext cx="4163356" cy="222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More flexibility, easier update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Faster development and debug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Easier reuse in end application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Easier reuse in end application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B46F56F-666D-170E-3A96-79862970E5DB}"/>
              </a:ext>
            </a:extLst>
          </p:cNvPr>
          <p:cNvSpPr/>
          <p:nvPr/>
        </p:nvSpPr>
        <p:spPr>
          <a:xfrm rot="16200000">
            <a:off x="7642708" y="4098926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00A0F2C-6AFD-F62B-33BA-4CE204C73B0A}"/>
              </a:ext>
            </a:extLst>
          </p:cNvPr>
          <p:cNvSpPr/>
          <p:nvPr/>
        </p:nvSpPr>
        <p:spPr>
          <a:xfrm rot="16200000">
            <a:off x="7634781" y="3537488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A3B1B78-42D5-709F-9F48-8C8971F883AD}"/>
              </a:ext>
            </a:extLst>
          </p:cNvPr>
          <p:cNvSpPr/>
          <p:nvPr/>
        </p:nvSpPr>
        <p:spPr>
          <a:xfrm rot="16200000">
            <a:off x="7651902" y="4642831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8B0717D-0982-9992-9A06-F5F4624159F6}"/>
              </a:ext>
            </a:extLst>
          </p:cNvPr>
          <p:cNvSpPr/>
          <p:nvPr/>
        </p:nvSpPr>
        <p:spPr>
          <a:xfrm rot="16200000">
            <a:off x="7642709" y="5181873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4A30D0-80A7-8AD9-D7D3-443B53C99C49}"/>
              </a:ext>
            </a:extLst>
          </p:cNvPr>
          <p:cNvGrpSpPr/>
          <p:nvPr/>
        </p:nvGrpSpPr>
        <p:grpSpPr>
          <a:xfrm>
            <a:off x="1100307" y="2218083"/>
            <a:ext cx="5636752" cy="781496"/>
            <a:chOff x="1028230" y="2247015"/>
            <a:chExt cx="5636752" cy="781496"/>
          </a:xfrm>
        </p:grpSpPr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181F657-E1C1-F9E5-D892-56C7EC88294F}"/>
                </a:ext>
              </a:extLst>
            </p:cNvPr>
            <p:cNvSpPr/>
            <p:nvPr/>
          </p:nvSpPr>
          <p:spPr>
            <a:xfrm>
              <a:off x="3536094" y="2482298"/>
              <a:ext cx="387627" cy="313902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sz="2400" err="1">
                <a:solidFill>
                  <a:schemeClr val="tx1"/>
                </a:solidFill>
              </a:endParaRPr>
            </a:p>
          </p:txBody>
        </p:sp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5520B31F-484A-DEF7-8A8D-8C19E45FE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8230" y="2251473"/>
              <a:ext cx="2236473" cy="777038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79A168-44FD-27E2-B7D0-993EC08DA2F0}"/>
                </a:ext>
              </a:extLst>
            </p:cNvPr>
            <p:cNvGrpSpPr/>
            <p:nvPr/>
          </p:nvGrpSpPr>
          <p:grpSpPr>
            <a:xfrm>
              <a:off x="4195112" y="2247015"/>
              <a:ext cx="2469870" cy="777038"/>
              <a:chOff x="4195112" y="2247015"/>
              <a:chExt cx="2469870" cy="777038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4A588AB8-9C7B-9FF2-A2E1-6328516ED1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195112" y="2247015"/>
                <a:ext cx="2236473" cy="777038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2FDD04-EC4C-8365-F52B-D05DD541BEE5}"/>
                  </a:ext>
                </a:extLst>
              </p:cNvPr>
              <p:cNvSpPr txBox="1"/>
              <p:nvPr/>
            </p:nvSpPr>
            <p:spPr>
              <a:xfrm>
                <a:off x="6198188" y="2641149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>
                    <a:solidFill>
                      <a:schemeClr val="accent3"/>
                    </a:solidFill>
                  </a:rPr>
                  <a:t>V2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757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STM32CubeMX Evolution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bg1"/>
              </a:buClr>
            </a:pPr>
            <a:r>
              <a:rPr lang="en-US" sz="2000" b="1">
                <a:solidFill>
                  <a:srgbClr val="002060"/>
                </a:solidFill>
              </a:rPr>
              <a:t>Faster development, alignment with embedded SW evolution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96F1C-C74E-5CA4-DA95-727C7EAA9ADC}"/>
              </a:ext>
            </a:extLst>
          </p:cNvPr>
          <p:cNvGrpSpPr/>
          <p:nvPr/>
        </p:nvGrpSpPr>
        <p:grpSpPr>
          <a:xfrm>
            <a:off x="195129" y="2888204"/>
            <a:ext cx="7491689" cy="3299621"/>
            <a:chOff x="1217519" y="2403971"/>
            <a:chExt cx="7491689" cy="30868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2E81B-F01C-C623-DA7C-454C5BDDE6A7}"/>
                </a:ext>
              </a:extLst>
            </p:cNvPr>
            <p:cNvSpPr/>
            <p:nvPr/>
          </p:nvSpPr>
          <p:spPr>
            <a:xfrm>
              <a:off x="1217519" y="2488278"/>
              <a:ext cx="7447744" cy="299809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US" sz="1600">
                <a:solidFill>
                  <a:srgbClr val="00206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EB1000-5D05-5901-F503-4F5321B24673}"/>
                </a:ext>
              </a:extLst>
            </p:cNvPr>
            <p:cNvSpPr txBox="1"/>
            <p:nvPr/>
          </p:nvSpPr>
          <p:spPr>
            <a:xfrm>
              <a:off x="1261464" y="2403971"/>
              <a:ext cx="7447744" cy="3086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Data centric: </a:t>
              </a:r>
              <a:r>
                <a:rPr lang="en-US" sz="1600" dirty="0"/>
                <a:t>MCU agnostic, using CMSIS-Packs components as input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b="1" dirty="0"/>
                <a:t>Upgraded Configuration:</a:t>
              </a:r>
              <a:r>
                <a:rPr lang="en-US" sz="1600" dirty="0"/>
                <a:t> Enhanced pinout, clock and IPs settings,   more flexible code generation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Porting support: </a:t>
              </a:r>
              <a:r>
                <a:rPr lang="en-US" sz="1600" dirty="0"/>
                <a:t>Supporting inter and cross series migration</a:t>
              </a:r>
              <a:endParaRPr lang="en-US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New Code preview: </a:t>
              </a:r>
              <a:r>
                <a:rPr lang="en-US" sz="1600" dirty="0"/>
                <a:t>Live view of generated code with easy copy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Improved UX: </a:t>
              </a:r>
              <a:r>
                <a:rPr lang="en-US" sz="1600" dirty="0"/>
                <a:t>New views and highlights, simplified journeys</a:t>
              </a:r>
              <a:endParaRPr lang="en-US" dirty="0"/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Enhanced CLI: </a:t>
              </a:r>
              <a:r>
                <a:rPr lang="en-US" sz="1600" dirty="0"/>
                <a:t>full access to functionalities through command line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4C9774D-53EB-9A88-E502-C439B723D3E6}"/>
              </a:ext>
            </a:extLst>
          </p:cNvPr>
          <p:cNvSpPr/>
          <p:nvPr/>
        </p:nvSpPr>
        <p:spPr>
          <a:xfrm>
            <a:off x="7895483" y="2973531"/>
            <a:ext cx="4057588" cy="3209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022F1-33DB-5650-C385-80516CD930A2}"/>
              </a:ext>
            </a:extLst>
          </p:cNvPr>
          <p:cNvSpPr txBox="1"/>
          <p:nvPr/>
        </p:nvSpPr>
        <p:spPr>
          <a:xfrm>
            <a:off x="7873069" y="3025718"/>
            <a:ext cx="4163356" cy="319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Flexibility on tool used versions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Fast and optimized configuration </a:t>
            </a:r>
          </a:p>
          <a:p>
            <a:pPr marL="285750" indent="-28575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Accelerated porting 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Easier code access and reuse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Faster and easier configuration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Automated CI/CD support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B46F56F-666D-170E-3A96-79862970E5DB}"/>
              </a:ext>
            </a:extLst>
          </p:cNvPr>
          <p:cNvSpPr/>
          <p:nvPr/>
        </p:nvSpPr>
        <p:spPr>
          <a:xfrm rot="16200000">
            <a:off x="7590248" y="3545490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00A0F2C-6AFD-F62B-33BA-4CE204C73B0A}"/>
              </a:ext>
            </a:extLst>
          </p:cNvPr>
          <p:cNvSpPr/>
          <p:nvPr/>
        </p:nvSpPr>
        <p:spPr>
          <a:xfrm rot="16200000">
            <a:off x="7582547" y="3099750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A3B1B78-42D5-709F-9F48-8C8971F883AD}"/>
              </a:ext>
            </a:extLst>
          </p:cNvPr>
          <p:cNvSpPr/>
          <p:nvPr/>
        </p:nvSpPr>
        <p:spPr>
          <a:xfrm rot="16200000">
            <a:off x="7599189" y="4154373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8B0717D-0982-9992-9A06-F5F4624159F6}"/>
              </a:ext>
            </a:extLst>
          </p:cNvPr>
          <p:cNvSpPr/>
          <p:nvPr/>
        </p:nvSpPr>
        <p:spPr>
          <a:xfrm rot="16200000">
            <a:off x="7599189" y="4747571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181F657-E1C1-F9E5-D892-56C7EC88294F}"/>
              </a:ext>
            </a:extLst>
          </p:cNvPr>
          <p:cNvSpPr/>
          <p:nvPr/>
        </p:nvSpPr>
        <p:spPr>
          <a:xfrm>
            <a:off x="3768987" y="2428796"/>
            <a:ext cx="387627" cy="313902"/>
          </a:xfrm>
          <a:prstGeom prst="rightArrow">
            <a:avLst/>
          </a:prstGeom>
          <a:solidFill>
            <a:schemeClr val="accent3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400" err="1">
              <a:solidFill>
                <a:schemeClr val="tx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62D7C7-97D6-F43E-8364-61EBE4BA3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1816" y="2130210"/>
            <a:ext cx="1416334" cy="773858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4B87A0DE-C345-1D97-1F66-E0CC0DB3E670}"/>
              </a:ext>
            </a:extLst>
          </p:cNvPr>
          <p:cNvSpPr/>
          <p:nvPr/>
        </p:nvSpPr>
        <p:spPr>
          <a:xfrm rot="16200000">
            <a:off x="7590789" y="5286832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B5F587F-46D6-1CE2-B021-00F4EA8DC500}"/>
              </a:ext>
            </a:extLst>
          </p:cNvPr>
          <p:cNvSpPr/>
          <p:nvPr/>
        </p:nvSpPr>
        <p:spPr>
          <a:xfrm rot="16200000">
            <a:off x="7605370" y="5832247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0D3E69-F285-4E1F-A45C-4CB070EC94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7451" y="2126828"/>
            <a:ext cx="1395748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7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53EA0-0BF7-BE36-2316-CF2BDD8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STM32 IDE Evolution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E84DC-E10B-82D6-C272-D74D836079E5}"/>
              </a:ext>
            </a:extLst>
          </p:cNvPr>
          <p:cNvSpPr/>
          <p:nvPr/>
        </p:nvSpPr>
        <p:spPr>
          <a:xfrm>
            <a:off x="1" y="1307857"/>
            <a:ext cx="8229600" cy="777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700" tIns="0" rIns="127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bg1"/>
              </a:buClr>
            </a:pPr>
            <a:r>
              <a:rPr lang="en-US" sz="2000" b="1">
                <a:solidFill>
                  <a:srgbClr val="002060"/>
                </a:solidFill>
              </a:rPr>
              <a:t>Faster development, alignment with embedded SW evolution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A96F1C-C74E-5CA4-DA95-727C7EAA9ADC}"/>
              </a:ext>
            </a:extLst>
          </p:cNvPr>
          <p:cNvGrpSpPr/>
          <p:nvPr/>
        </p:nvGrpSpPr>
        <p:grpSpPr>
          <a:xfrm>
            <a:off x="165350" y="2873862"/>
            <a:ext cx="7506098" cy="3330399"/>
            <a:chOff x="1159165" y="2390554"/>
            <a:chExt cx="7506098" cy="31156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2E81B-F01C-C623-DA7C-454C5BDDE6A7}"/>
                </a:ext>
              </a:extLst>
            </p:cNvPr>
            <p:cNvSpPr/>
            <p:nvPr/>
          </p:nvSpPr>
          <p:spPr>
            <a:xfrm>
              <a:off x="1217519" y="2488278"/>
              <a:ext cx="7447744" cy="299809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n-US" sz="1600">
                <a:solidFill>
                  <a:srgbClr val="00206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EB1000-5D05-5901-F503-4F5321B24673}"/>
                </a:ext>
              </a:extLst>
            </p:cNvPr>
            <p:cNvSpPr txBox="1"/>
            <p:nvPr/>
          </p:nvSpPr>
          <p:spPr>
            <a:xfrm>
              <a:off x="1159165" y="2390554"/>
              <a:ext cx="7447744" cy="3115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Data Centric: </a:t>
              </a:r>
              <a:r>
                <a:rPr lang="en-US" sz="1600" dirty="0"/>
                <a:t>MCU agnostic, using CMSIS-Packs components as input</a:t>
              </a:r>
              <a:endParaRPr lang="en-US" sz="1600" b="1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/>
                <a:t>VSCode </a:t>
              </a:r>
              <a:r>
                <a:rPr lang="en-US" b="1" dirty="0"/>
                <a:t>based, decoupled from MX:</a:t>
              </a:r>
              <a:r>
                <a:rPr lang="en-US" dirty="0"/>
                <a:t> </a:t>
              </a:r>
              <a:r>
                <a:rPr lang="en-US" sz="1600" dirty="0"/>
                <a:t>lighter, faster, more evolutive </a:t>
              </a:r>
              <a:endParaRPr lang="en-US" sz="1600" b="1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 err="1"/>
                <a:t>CMake</a:t>
              </a:r>
              <a:r>
                <a:rPr lang="en-US" b="1" dirty="0"/>
                <a:t> based, GCC and LLVM support:</a:t>
              </a:r>
              <a:r>
                <a:rPr lang="en-US" sz="1600" dirty="0"/>
                <a:t> decoupling projects and build 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Modular features addition: </a:t>
              </a:r>
              <a:r>
                <a:rPr lang="en-US" sz="1600" dirty="0"/>
                <a:t>flexible install with </a:t>
              </a:r>
              <a:r>
                <a:rPr lang="en-US" sz="1600" b="1" dirty="0"/>
                <a:t>‘</a:t>
              </a:r>
              <a:r>
                <a:rPr lang="en-US" sz="1600" dirty="0"/>
                <a:t>Bundle manager’ feature</a:t>
              </a:r>
              <a:endParaRPr lang="en-US" b="1" dirty="0"/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Enhanced UX: </a:t>
              </a:r>
              <a:r>
                <a:rPr lang="en-US" sz="1600" dirty="0"/>
                <a:t>simple journeys, internationalization support</a:t>
              </a:r>
            </a:p>
            <a:p>
              <a:pPr marL="28575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Separated CLI: </a:t>
              </a:r>
              <a:r>
                <a:rPr lang="en-US" sz="1600" dirty="0"/>
                <a:t>full access to functionalities through command line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4C9774D-53EB-9A88-E502-C439B723D3E6}"/>
              </a:ext>
            </a:extLst>
          </p:cNvPr>
          <p:cNvSpPr/>
          <p:nvPr/>
        </p:nvSpPr>
        <p:spPr>
          <a:xfrm>
            <a:off x="7924058" y="2973531"/>
            <a:ext cx="4057588" cy="3209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022F1-33DB-5650-C385-80516CD930A2}"/>
              </a:ext>
            </a:extLst>
          </p:cNvPr>
          <p:cNvSpPr txBox="1"/>
          <p:nvPr/>
        </p:nvSpPr>
        <p:spPr>
          <a:xfrm>
            <a:off x="7940984" y="2888204"/>
            <a:ext cx="4163356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Flexibility on tool used versions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Faster install and development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more flexibility, faster build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Flexible install, disk space saving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Easier to use tool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Automated CI/CD support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B46F56F-666D-170E-3A96-79862970E5DB}"/>
              </a:ext>
            </a:extLst>
          </p:cNvPr>
          <p:cNvSpPr/>
          <p:nvPr/>
        </p:nvSpPr>
        <p:spPr>
          <a:xfrm rot="16200000">
            <a:off x="7656339" y="3638282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00A0F2C-6AFD-F62B-33BA-4CE204C73B0A}"/>
              </a:ext>
            </a:extLst>
          </p:cNvPr>
          <p:cNvSpPr/>
          <p:nvPr/>
        </p:nvSpPr>
        <p:spPr>
          <a:xfrm rot="16200000">
            <a:off x="7659371" y="3091167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A3B1B78-42D5-709F-9F48-8C8971F883AD}"/>
              </a:ext>
            </a:extLst>
          </p:cNvPr>
          <p:cNvSpPr/>
          <p:nvPr/>
        </p:nvSpPr>
        <p:spPr>
          <a:xfrm rot="16200000">
            <a:off x="7654820" y="4180620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8B0717D-0982-9992-9A06-F5F4624159F6}"/>
              </a:ext>
            </a:extLst>
          </p:cNvPr>
          <p:cNvSpPr/>
          <p:nvPr/>
        </p:nvSpPr>
        <p:spPr>
          <a:xfrm rot="16200000">
            <a:off x="7656339" y="4747571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B87A0DE-C345-1D97-1F66-E0CC0DB3E670}"/>
              </a:ext>
            </a:extLst>
          </p:cNvPr>
          <p:cNvSpPr/>
          <p:nvPr/>
        </p:nvSpPr>
        <p:spPr>
          <a:xfrm rot="16200000">
            <a:off x="7673871" y="5289908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B5F587F-46D6-1CE2-B021-00F4EA8DC500}"/>
              </a:ext>
            </a:extLst>
          </p:cNvPr>
          <p:cNvSpPr/>
          <p:nvPr/>
        </p:nvSpPr>
        <p:spPr>
          <a:xfrm rot="16200000">
            <a:off x="7662520" y="5832247"/>
            <a:ext cx="261258" cy="36616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8C1383-32A3-B625-FB89-3CEDC1FE56DE}"/>
              </a:ext>
            </a:extLst>
          </p:cNvPr>
          <p:cNvGrpSpPr/>
          <p:nvPr/>
        </p:nvGrpSpPr>
        <p:grpSpPr>
          <a:xfrm>
            <a:off x="2092287" y="2086753"/>
            <a:ext cx="3999350" cy="877894"/>
            <a:chOff x="2092287" y="2086753"/>
            <a:chExt cx="3999350" cy="877894"/>
          </a:xfrm>
        </p:grpSpPr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D181F657-E1C1-F9E5-D892-56C7EC88294F}"/>
                </a:ext>
              </a:extLst>
            </p:cNvPr>
            <p:cNvSpPr/>
            <p:nvPr/>
          </p:nvSpPr>
          <p:spPr>
            <a:xfrm>
              <a:off x="3768987" y="2428796"/>
              <a:ext cx="387627" cy="313902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sz="2400" err="1">
                <a:solidFill>
                  <a:schemeClr val="tx1"/>
                </a:solidFill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312CEB4-4936-0E96-02DC-5C50E231E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92287" y="2098028"/>
              <a:ext cx="1444366" cy="86661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8B8676E-A7FC-36B4-9328-3E7A71DD3431}"/>
                </a:ext>
              </a:extLst>
            </p:cNvPr>
            <p:cNvGrpSpPr/>
            <p:nvPr/>
          </p:nvGrpSpPr>
          <p:grpSpPr>
            <a:xfrm>
              <a:off x="4388948" y="2086753"/>
              <a:ext cx="1702689" cy="866619"/>
              <a:chOff x="4388948" y="2086753"/>
              <a:chExt cx="1702689" cy="866619"/>
            </a:xfrm>
          </p:grpSpPr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F02D6AB7-80D8-C45A-5DCF-F9717BFFDF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8948" y="2086753"/>
                <a:ext cx="1444366" cy="866619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6978B1-AAC0-A74B-EC16-0A4CE9C0E902}"/>
                  </a:ext>
                </a:extLst>
              </p:cNvPr>
              <p:cNvSpPr txBox="1"/>
              <p:nvPr/>
            </p:nvSpPr>
            <p:spPr>
              <a:xfrm>
                <a:off x="5217167" y="2593121"/>
                <a:ext cx="874470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>
                    <a:solidFill>
                      <a:schemeClr val="accent3"/>
                    </a:solidFill>
                    <a:latin typeface="Aptos Narrow" panose="020B0004020202020204" pitchFamily="34" charset="0"/>
                  </a:rPr>
                  <a:t>VS Code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008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8DEF53-6BA0-4AE0-82C9-7FF45CA58409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E95F74-78DE-4723-99D9-0EDA05B8C438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>
                  <a:solidFill>
                    <a:schemeClr val="bg1"/>
                  </a:solidFill>
                </a:rPr>
                <a:t>Find out more at </a:t>
              </a:r>
              <a:r>
                <a:rPr lang="en-US" sz="3200">
                  <a:solidFill>
                    <a:schemeClr val="accent3"/>
                  </a:solidFill>
                  <a:hlinkClick r:id="rId3"/>
                </a:rPr>
                <a:t>www.st.com</a:t>
              </a:r>
              <a:endParaRPr lang="en-US" sz="3200">
                <a:solidFill>
                  <a:schemeClr val="accent3"/>
                </a:solidFill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94DF564-4D7F-4CB2-B602-D07487BF8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C11AC4-D72E-45C2-987A-176079AF51FB}"/>
              </a:ext>
            </a:extLst>
          </p:cNvPr>
          <p:cNvGrpSpPr/>
          <p:nvPr/>
        </p:nvGrpSpPr>
        <p:grpSpPr>
          <a:xfrm>
            <a:off x="13050574" y="0"/>
            <a:ext cx="5935784" cy="2385268"/>
            <a:chOff x="13050574" y="0"/>
            <a:chExt cx="5935784" cy="23852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DC11DF-C48E-453F-A1B5-A6649B8DB2FF}"/>
                </a:ext>
              </a:extLst>
            </p:cNvPr>
            <p:cNvSpPr txBox="1"/>
            <p:nvPr/>
          </p:nvSpPr>
          <p:spPr>
            <a:xfrm>
              <a:off x="13050574" y="0"/>
              <a:ext cx="5935784" cy="23852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80000" rtlCol="0">
              <a:spAutoFit/>
            </a:bodyPr>
            <a:lstStyle/>
            <a:p>
              <a:r>
                <a:rPr lang="en-US" sz="2400"/>
                <a:t>You can personalize this </a:t>
              </a:r>
            </a:p>
            <a:p>
              <a:r>
                <a:rPr lang="en-US" sz="2400"/>
                <a:t>last page with a short link</a:t>
              </a:r>
            </a:p>
            <a:p>
              <a:r>
                <a:rPr lang="en-US" sz="2400"/>
                <a:t>(ex. </a:t>
              </a:r>
              <a:r>
                <a:rPr lang="en-US" sz="2400">
                  <a:solidFill>
                    <a:schemeClr val="accent3"/>
                  </a:solidFill>
                </a:rPr>
                <a:t>www.st.com/shortlink</a:t>
              </a:r>
              <a:r>
                <a:rPr lang="en-US" sz="2400"/>
                <a:t>)</a:t>
              </a:r>
            </a:p>
            <a:p>
              <a:pPr>
                <a:spcBef>
                  <a:spcPts val="600"/>
                </a:spcBef>
              </a:pPr>
              <a:r>
                <a:rPr lang="en-US" sz="2400"/>
                <a:t>You can find a complete list of </a:t>
              </a:r>
              <a:br>
                <a:rPr lang="en-US" sz="2400"/>
              </a:br>
              <a:r>
                <a:rPr lang="en-US" sz="2400"/>
                <a:t>st.com short links on this page:</a:t>
              </a:r>
            </a:p>
            <a:p>
              <a:r>
                <a:rPr lang="en-US" sz="240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http://seo.st.com/toolbox/shortcuts/</a:t>
              </a:r>
              <a:endParaRPr lang="en-US" sz="240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17AADF4-D9A4-4FB4-955B-6A59A64BA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92580" y="216897"/>
              <a:ext cx="770076" cy="770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601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/>
              <a:t>you can visit the ST Brand Portal</a:t>
            </a:r>
            <a:br>
              <a:rPr lang="en-US"/>
            </a:br>
            <a:r>
              <a:rPr lang="en-US">
                <a:hlinkClick r:id="rId4"/>
              </a:rPr>
              <a:t>https://brandportal.st.com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7F8C3-7076-49CE-AED6-F8EE2EE4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13</a:t>
            </a:fld>
            <a:endParaRPr lang="fr-F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8825EC-7476-4B89-9697-5CAF90DEE109}"/>
              </a:ext>
            </a:extLst>
          </p:cNvPr>
          <p:cNvGrpSpPr/>
          <p:nvPr/>
        </p:nvGrpSpPr>
        <p:grpSpPr>
          <a:xfrm>
            <a:off x="13050574" y="0"/>
            <a:ext cx="4573232" cy="1200329"/>
            <a:chOff x="13050574" y="0"/>
            <a:chExt cx="4573232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E01911-0E33-4A22-9E3E-E178DA78E5EF}"/>
                </a:ext>
              </a:extLst>
            </p:cNvPr>
            <p:cNvSpPr txBox="1"/>
            <p:nvPr/>
          </p:nvSpPr>
          <p:spPr>
            <a:xfrm>
              <a:off x="13050574" y="0"/>
              <a:ext cx="457323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80000" rtlCol="0">
              <a:spAutoFit/>
            </a:bodyPr>
            <a:lstStyle/>
            <a:p>
              <a:r>
                <a:rPr lang="en-US" sz="2400"/>
                <a:t>Please remove this page</a:t>
              </a:r>
            </a:p>
            <a:p>
              <a:r>
                <a:rPr lang="en-US" sz="2400"/>
                <a:t>before publishing the </a:t>
              </a:r>
            </a:p>
            <a:p>
              <a:r>
                <a:rPr lang="en-US" sz="2400"/>
                <a:t>presentation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53AB4E1-EA61-4358-BF4D-D7F78914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192580" y="216897"/>
              <a:ext cx="770076" cy="770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4d79c82-e2ed-4723-9274-466bd8d27ffc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30040</TotalTime>
  <Words>1061</Words>
  <Application>Microsoft Office PowerPoint</Application>
  <PresentationFormat>Widescreen</PresentationFormat>
  <Paragraphs>163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Narrow</vt:lpstr>
      <vt:lpstr>Arial</vt:lpstr>
      <vt:lpstr>Calibri</vt:lpstr>
      <vt:lpstr>ST PowerPoint Template 16x9</vt:lpstr>
      <vt:lpstr> STM32Cube Ecosystem  </vt:lpstr>
      <vt:lpstr>PowerPoint Presentation</vt:lpstr>
      <vt:lpstr>STM32Cube Ecosystem</vt:lpstr>
      <vt:lpstr>STM32Cube Ecosystem</vt:lpstr>
      <vt:lpstr>STM32Cube Ecosystem</vt:lpstr>
      <vt:lpstr>STM32Cube Ecosystem</vt:lpstr>
      <vt:lpstr>STM32Cube Ecosystem</vt:lpstr>
      <vt:lpstr>STM32CubeMCU Packages Evolution</vt:lpstr>
      <vt:lpstr>STM32CubeMCU Packages Evolution</vt:lpstr>
      <vt:lpstr>STM32CubeMX Evolution</vt:lpstr>
      <vt:lpstr>STM32 IDE Evolution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 GUIZANI</dc:creator>
  <cp:keywords>Template v1.19</cp:keywords>
  <cp:lastModifiedBy>Yilmaz KASAPOGLU</cp:lastModifiedBy>
  <cp:revision>13</cp:revision>
  <dcterms:created xsi:type="dcterms:W3CDTF">2024-10-29T16:31:29Z</dcterms:created>
  <dcterms:modified xsi:type="dcterms:W3CDTF">2026-04-23T12:00:17Z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16x9:43</vt:lpwstr>
  </property>
  <property fmtid="{D5CDD505-2E9C-101B-9397-08002B2CF9AE}" pid="3" name="ClassificationContentMarkingFooterText">
    <vt:lpwstr>ST Confidential</vt:lpwstr>
  </property>
</Properties>
</file>